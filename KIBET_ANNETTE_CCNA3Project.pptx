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2" r:id="rId6"/>
    <p:sldId id="261" r:id="rId7"/>
    <p:sldId id="260" r:id="rId8"/>
    <p:sldId id="263" r:id="rId9"/>
    <p:sldId id="265" r:id="rId10"/>
    <p:sldId id="266" r:id="rId11"/>
    <p:sldId id="267" r:id="rId12"/>
    <p:sldId id="264" r:id="rId13"/>
    <p:sldId id="270" r:id="rId14"/>
    <p:sldId id="271"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06" autoAdjust="0"/>
    <p:restoredTop sz="94610"/>
  </p:normalViewPr>
  <p:slideViewPr>
    <p:cSldViewPr snapToGrid="0" snapToObjects="1">
      <p:cViewPr varScale="1">
        <p:scale>
          <a:sx n="73" d="100"/>
          <a:sy n="73" d="100"/>
        </p:scale>
        <p:origin x="834" y="7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1380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stages in order. Stress that testing was deliberate: we tried to break the network to prove it recovers.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street-address analogy: country, city, street, house number. Each part of the address answers a question.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Routers are like drivers sharing a live road map. OSPF is the name of the method they use to share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one failover screenshot, or run the live demo. Plain-language point: the backup takes over and users notice nothing.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one annotated failed-ping screenshot. Plain-language point: a visitor can use the network but cannot reach company systems.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a real office guest Wi-Fi: visitors are kept apart from company systems.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DHCP is the hotel front desk handing out room numbers. Staff who need a permanent room, like the file server, are given one in advance.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4" name="Text 1"/>
          <p:cNvSpPr txBox="1"/>
          <p:nvPr/>
        </p:nvSpPr>
        <p:spPr>
          <a:xfrm>
            <a:off x="1509486" y="1280160"/>
            <a:ext cx="10332720" cy="10058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anose="020F0502020204030204" pitchFamily="34" charset="0"/>
                <a:ea typeface="Calibri" panose="020F0502020204030204" pitchFamily="34" charset="0"/>
                <a:cs typeface="Calibri" panose="020F0502020204030204" pitchFamily="34" charset="0"/>
              </a:rPr>
              <a:t>Nexora Network Infrastructure Initiative</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 2"/>
          <p:cNvSpPr txBox="1"/>
          <p:nvPr/>
        </p:nvSpPr>
        <p:spPr>
          <a:xfrm>
            <a:off x="914400" y="3154680"/>
            <a:ext cx="10332720" cy="457200"/>
          </a:xfrm>
          <a:prstGeom prst="rect">
            <a:avLst/>
          </a:prstGeom>
          <a:noFill/>
          <a:ln/>
        </p:spPr>
        <p:txBody>
          <a:bodyPr wrap="square" lIns="0" tIns="0" rIns="0" bIns="0" rtlCol="0" anchor="ctr"/>
          <a:lstStyle/>
          <a:p>
            <a:pPr marL="0" indent="0" algn="ctr">
              <a:buNone/>
            </a:pPr>
            <a:r>
              <a:rPr lang="en-US" sz="2400" i="1" dirty="0">
                <a:solidFill>
                  <a:srgbClr val="CADCFC"/>
                </a:solidFill>
                <a:latin typeface="Calibri" pitchFamily="34" charset="0"/>
                <a:ea typeface="Calibri" pitchFamily="34" charset="-122"/>
                <a:cs typeface="Calibri" pitchFamily="34" charset="-120"/>
              </a:rPr>
              <a:t>CCNA Capstone Project — Design, Build &amp; Secure an Enterprise Network</a:t>
            </a:r>
            <a:endParaRPr lang="en-US" sz="2400" dirty="0"/>
          </a:p>
        </p:txBody>
      </p:sp>
      <p:sp>
        <p:nvSpPr>
          <p:cNvPr id="6" name="Text 3"/>
          <p:cNvSpPr txBox="1"/>
          <p:nvPr/>
        </p:nvSpPr>
        <p:spPr>
          <a:xfrm>
            <a:off x="914400" y="5486400"/>
            <a:ext cx="10332720" cy="1005840"/>
          </a:xfrm>
          <a:prstGeom prst="rect">
            <a:avLst/>
          </a:prstGeom>
          <a:noFill/>
          <a:ln/>
        </p:spPr>
        <p:txBody>
          <a:bodyPr wrap="square" lIns="0" tIns="0" rIns="0" bIns="0" rtlCol="0" anchor="ctr"/>
          <a:lstStyle/>
          <a:p>
            <a:pPr marL="0" indent="0" algn="ctr">
              <a:lnSpc>
                <a:spcPct val="130000"/>
              </a:lnSpc>
              <a:buNone/>
            </a:pPr>
            <a:r>
              <a:rPr lang="en-US" sz="2400" dirty="0">
                <a:solidFill>
                  <a:srgbClr val="CADCFC"/>
                </a:solidFill>
                <a:latin typeface="Calibri" pitchFamily="34" charset="0"/>
                <a:ea typeface="Calibri" pitchFamily="34" charset="-122"/>
                <a:cs typeface="Calibri" pitchFamily="34" charset="-120"/>
              </a:rPr>
              <a:t>Nexora Technologies LTD</a:t>
            </a:r>
            <a:endParaRPr lang="en-US" sz="2400" dirty="0"/>
          </a:p>
          <a:p>
            <a:pPr marL="0" indent="0" algn="ctr">
              <a:lnSpc>
                <a:spcPct val="130000"/>
              </a:lnSpc>
              <a:buNone/>
            </a:pPr>
            <a:r>
              <a:rPr lang="en-US" sz="2400" dirty="0">
                <a:solidFill>
                  <a:srgbClr val="CADCFC"/>
                </a:solidFill>
                <a:latin typeface="Calibri" pitchFamily="34" charset="0"/>
                <a:ea typeface="Calibri" pitchFamily="34" charset="-122"/>
                <a:cs typeface="Calibri" pitchFamily="34" charset="-120"/>
              </a:rPr>
              <a:t>Prepared by: Kibet Jerop Annette</a:t>
            </a:r>
            <a:endParaRPr lang="en-US" sz="2400" dirty="0"/>
          </a:p>
          <a:p>
            <a:pPr marL="0" indent="0" algn="ctr">
              <a:lnSpc>
                <a:spcPct val="130000"/>
              </a:lnSpc>
              <a:buNone/>
            </a:pPr>
            <a:r>
              <a:rPr lang="en-US" sz="2400" dirty="0">
                <a:solidFill>
                  <a:srgbClr val="CADCFC"/>
                </a:solidFill>
                <a:latin typeface="Calibri" pitchFamily="34" charset="0"/>
                <a:ea typeface="Calibri" pitchFamily="34" charset="-122"/>
                <a:cs typeface="Calibri" pitchFamily="34" charset="-120"/>
              </a:rPr>
              <a:t>October 2026</a:t>
            </a:r>
            <a:endParaRPr lang="en-US" sz="2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marL="0" indent="0" algn="l">
              <a:buNone/>
            </a:pPr>
            <a:r>
              <a:rPr lang="en-US" sz="2000" b="1" dirty="0">
                <a:solidFill>
                  <a:srgbClr val="1E2761"/>
                </a:solidFill>
                <a:latin typeface="Cambria" pitchFamily="34" charset="0"/>
                <a:ea typeface="Cambria" pitchFamily="34" charset="-122"/>
                <a:cs typeface="Cambria" pitchFamily="34" charset="-120"/>
              </a:rPr>
              <a:t>Scenario &amp; Objectives</a:t>
            </a:r>
            <a:endParaRPr lang="en-US" sz="2000" dirty="0"/>
          </a:p>
        </p:txBody>
      </p:sp>
      <p:sp>
        <p:nvSpPr>
          <p:cNvPr id="3" name="Shape 1"/>
          <p:cNvSpPr/>
          <p:nvPr/>
        </p:nvSpPr>
        <p:spPr>
          <a:xfrm>
            <a:off x="548640" y="1234440"/>
            <a:ext cx="5120640" cy="4937760"/>
          </a:xfrm>
          <a:prstGeom prst="roundRect">
            <a:avLst>
              <a:gd name="adj" fmla="val 2222"/>
            </a:avLst>
          </a:prstGeom>
          <a:solidFill>
            <a:srgbClr val="CADCFC"/>
          </a:solidFill>
          <a:ln/>
        </p:spPr>
      </p:sp>
      <p:sp>
        <p:nvSpPr>
          <p:cNvPr id="4" name="Text 2"/>
          <p:cNvSpPr txBox="1"/>
          <p:nvPr/>
        </p:nvSpPr>
        <p:spPr>
          <a:xfrm>
            <a:off x="868680" y="1199920"/>
            <a:ext cx="4480560" cy="45720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Nexora Technologies Ltd.</a:t>
            </a:r>
            <a:endParaRPr lang="en-US" sz="2000" dirty="0"/>
          </a:p>
        </p:txBody>
      </p:sp>
      <p:sp>
        <p:nvSpPr>
          <p:cNvPr id="5" name="Text 3"/>
          <p:cNvSpPr txBox="1"/>
          <p:nvPr/>
        </p:nvSpPr>
        <p:spPr>
          <a:xfrm>
            <a:off x="868680" y="1965960"/>
            <a:ext cx="4480560" cy="822960"/>
          </a:xfrm>
          <a:prstGeom prst="rect">
            <a:avLst/>
          </a:prstGeom>
          <a:noFill/>
          <a:ln/>
        </p:spPr>
        <p:txBody>
          <a:bodyPr wrap="square" lIns="0" tIns="0" rIns="0" bIns="0" rtlCol="0" anchor="ctr"/>
          <a:lstStyle/>
          <a:p>
            <a:pPr marL="0" indent="0">
              <a:lnSpc>
                <a:spcPct val="115000"/>
              </a:lnSpc>
              <a:buNone/>
            </a:pPr>
            <a:r>
              <a:rPr lang="en-US" sz="2000" dirty="0">
                <a:solidFill>
                  <a:srgbClr val="222222"/>
                </a:solidFill>
                <a:latin typeface="Calibri" pitchFamily="34" charset="0"/>
                <a:ea typeface="Calibri" pitchFamily="34" charset="-122"/>
                <a:cs typeface="Calibri" pitchFamily="34" charset="-120"/>
              </a:rPr>
              <a:t>A mid-sized technology and digital solutions company operating from a Head Office in Nairobi and a Branch Office in Eldoret. Leadership asked for:</a:t>
            </a:r>
            <a:endParaRPr lang="en-US" sz="2000" dirty="0"/>
          </a:p>
        </p:txBody>
      </p:sp>
      <p:sp>
        <p:nvSpPr>
          <p:cNvPr id="6" name="Text 4"/>
          <p:cNvSpPr txBox="1"/>
          <p:nvPr/>
        </p:nvSpPr>
        <p:spPr>
          <a:xfrm>
            <a:off x="868680" y="3164113"/>
            <a:ext cx="4357730" cy="2137581"/>
          </a:xfrm>
          <a:prstGeom prst="rect">
            <a:avLst/>
          </a:prstGeom>
          <a:noFill/>
          <a:ln/>
        </p:spPr>
        <p:txBody>
          <a:bodyPr wrap="square" lIns="0" tIns="0" rIns="0" bIns="0" rtlCol="0" anchor="ctr"/>
          <a:lstStyle/>
          <a:p>
            <a:pPr marL="342900" indent="-342900">
              <a:spcAft>
                <a:spcPts val="1000"/>
              </a:spcAft>
              <a:buSzPct val="100000"/>
              <a:buChar char="•"/>
            </a:pPr>
            <a:endParaRPr lang="en-US" sz="2000" dirty="0" smtClean="0">
              <a:solidFill>
                <a:srgbClr val="222222"/>
              </a:solidFill>
              <a:latin typeface="Calibri" pitchFamily="34" charset="0"/>
              <a:ea typeface="Calibri" pitchFamily="34" charset="-122"/>
              <a:cs typeface="Calibri" pitchFamily="34" charset="-120"/>
            </a:endParaRPr>
          </a:p>
          <a:p>
            <a:pPr marL="342900" indent="-342900">
              <a:spcAft>
                <a:spcPts val="1000"/>
              </a:spcAft>
              <a:buSzPct val="100000"/>
              <a:buChar char="•"/>
            </a:pPr>
            <a:endParaRPr lang="en-US" sz="2000" dirty="0">
              <a:solidFill>
                <a:srgbClr val="222222"/>
              </a:solidFill>
              <a:latin typeface="Calibri" pitchFamily="34" charset="0"/>
              <a:ea typeface="Calibri" pitchFamily="34" charset="-122"/>
              <a:cs typeface="Calibri" pitchFamily="34" charset="-120"/>
            </a:endParaRPr>
          </a:p>
          <a:p>
            <a:pPr marL="342900" indent="-342900">
              <a:spcAft>
                <a:spcPts val="1000"/>
              </a:spcAft>
              <a:buSzPct val="100000"/>
              <a:buChar char="•"/>
            </a:pPr>
            <a:r>
              <a:rPr lang="en-US" sz="2000" dirty="0" smtClean="0">
                <a:solidFill>
                  <a:srgbClr val="222222"/>
                </a:solidFill>
                <a:latin typeface="Calibri" pitchFamily="34" charset="0"/>
                <a:ea typeface="Calibri" pitchFamily="34" charset="-122"/>
                <a:cs typeface="Calibri" pitchFamily="34" charset="-120"/>
              </a:rPr>
              <a:t>Departments </a:t>
            </a:r>
            <a:r>
              <a:rPr lang="en-US" sz="2000" dirty="0">
                <a:solidFill>
                  <a:srgbClr val="222222"/>
                </a:solidFill>
                <a:latin typeface="Calibri" pitchFamily="34" charset="0"/>
                <a:ea typeface="Calibri" pitchFamily="34" charset="-122"/>
                <a:cs typeface="Calibri" pitchFamily="34" charset="-120"/>
              </a:rPr>
              <a:t>kept logically separated</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Reliable routing between the two offices</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Unauthorized devices and rogue DHCP blocked</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Remote device management restricted to IT staff</a:t>
            </a:r>
            <a:endParaRPr lang="en-US" sz="2000" dirty="0"/>
          </a:p>
        </p:txBody>
      </p:sp>
      <p:sp>
        <p:nvSpPr>
          <p:cNvPr id="9" name="Text 6"/>
          <p:cNvSpPr txBox="1"/>
          <p:nvPr/>
        </p:nvSpPr>
        <p:spPr>
          <a:xfrm>
            <a:off x="6080760" y="1188720"/>
            <a:ext cx="4663440" cy="36576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Separate Departments</a:t>
            </a:r>
            <a:endParaRPr lang="en-US" sz="2000" dirty="0"/>
          </a:p>
        </p:txBody>
      </p:sp>
      <p:sp>
        <p:nvSpPr>
          <p:cNvPr id="10" name="Text 7"/>
          <p:cNvSpPr txBox="1"/>
          <p:nvPr/>
        </p:nvSpPr>
        <p:spPr>
          <a:xfrm>
            <a:off x="6080760" y="1805940"/>
            <a:ext cx="4663440" cy="548640"/>
          </a:xfrm>
          <a:prstGeom prst="rect">
            <a:avLst/>
          </a:prstGeom>
          <a:noFill/>
          <a:ln/>
        </p:spPr>
        <p:txBody>
          <a:bodyPr wrap="square" lIns="0" tIns="0" rIns="0" bIns="0" rtlCol="0" anchor="ctr"/>
          <a:lstStyle/>
          <a:p>
            <a:pPr marL="0" indent="0">
              <a:lnSpc>
                <a:spcPct val="110000"/>
              </a:lnSpc>
              <a:buNone/>
            </a:pPr>
            <a:r>
              <a:rPr lang="en-US" sz="2000" dirty="0">
                <a:solidFill>
                  <a:srgbClr val="222222"/>
                </a:solidFill>
                <a:latin typeface="Calibri" pitchFamily="34" charset="0"/>
                <a:ea typeface="Calibri" pitchFamily="34" charset="-122"/>
                <a:cs typeface="Calibri" pitchFamily="34" charset="-120"/>
              </a:rPr>
              <a:t>Each department gets its own private network, kept apart from the others</a:t>
            </a:r>
            <a:endParaRPr lang="en-US" sz="2000" dirty="0"/>
          </a:p>
        </p:txBody>
      </p:sp>
      <p:sp>
        <p:nvSpPr>
          <p:cNvPr id="13" name="Text 9"/>
          <p:cNvSpPr txBox="1"/>
          <p:nvPr/>
        </p:nvSpPr>
        <p:spPr>
          <a:xfrm>
            <a:off x="6109063" y="2606040"/>
            <a:ext cx="4663440" cy="36576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Connected Offices</a:t>
            </a:r>
            <a:endParaRPr lang="en-US" sz="2000" dirty="0"/>
          </a:p>
        </p:txBody>
      </p:sp>
      <p:sp>
        <p:nvSpPr>
          <p:cNvPr id="14" name="Text 10"/>
          <p:cNvSpPr txBox="1"/>
          <p:nvPr/>
        </p:nvSpPr>
        <p:spPr>
          <a:xfrm>
            <a:off x="6109062" y="3034751"/>
            <a:ext cx="4635137" cy="649511"/>
          </a:xfrm>
          <a:prstGeom prst="rect">
            <a:avLst/>
          </a:prstGeom>
          <a:noFill/>
          <a:ln/>
        </p:spPr>
        <p:txBody>
          <a:bodyPr wrap="square" lIns="0" tIns="0" rIns="0" bIns="0" rtlCol="0" anchor="ctr"/>
          <a:lstStyle/>
          <a:p>
            <a:pPr marL="0" indent="0">
              <a:lnSpc>
                <a:spcPct val="110000"/>
              </a:lnSpc>
              <a:buNone/>
            </a:pPr>
            <a:r>
              <a:rPr lang="en-US" sz="2000" dirty="0">
                <a:solidFill>
                  <a:srgbClr val="222222"/>
                </a:solidFill>
                <a:latin typeface="Calibri" pitchFamily="34" charset="0"/>
                <a:ea typeface="Calibri" pitchFamily="34" charset="-122"/>
                <a:cs typeface="Calibri" pitchFamily="34" charset="-120"/>
              </a:rPr>
              <a:t>The two offices are linked so they work as one company</a:t>
            </a:r>
            <a:endParaRPr lang="en-US" sz="2000" dirty="0"/>
          </a:p>
        </p:txBody>
      </p:sp>
      <p:sp>
        <p:nvSpPr>
          <p:cNvPr id="17" name="Text 12"/>
          <p:cNvSpPr txBox="1"/>
          <p:nvPr/>
        </p:nvSpPr>
        <p:spPr>
          <a:xfrm>
            <a:off x="6109062" y="3584395"/>
            <a:ext cx="4635137" cy="648507"/>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Controlled Access</a:t>
            </a:r>
            <a:endParaRPr lang="en-US" sz="2000" dirty="0"/>
          </a:p>
        </p:txBody>
      </p:sp>
      <p:sp>
        <p:nvSpPr>
          <p:cNvPr id="18" name="Text 13"/>
          <p:cNvSpPr txBox="1"/>
          <p:nvPr/>
        </p:nvSpPr>
        <p:spPr>
          <a:xfrm>
            <a:off x="6109063" y="4232903"/>
            <a:ext cx="4663440" cy="548640"/>
          </a:xfrm>
          <a:prstGeom prst="rect">
            <a:avLst/>
          </a:prstGeom>
          <a:noFill/>
          <a:ln/>
        </p:spPr>
        <p:txBody>
          <a:bodyPr wrap="square" lIns="0" tIns="0" rIns="0" bIns="0" rtlCol="0" anchor="ctr"/>
          <a:lstStyle/>
          <a:p>
            <a:pPr marL="0" indent="0">
              <a:lnSpc>
                <a:spcPct val="110000"/>
              </a:lnSpc>
              <a:buNone/>
            </a:pPr>
            <a:r>
              <a:rPr lang="en-US" sz="2000" dirty="0">
                <a:solidFill>
                  <a:srgbClr val="222222"/>
                </a:solidFill>
                <a:latin typeface="Calibri" pitchFamily="34" charset="0"/>
                <a:ea typeface="Calibri" pitchFamily="34" charset="-122"/>
                <a:cs typeface="Calibri" pitchFamily="34" charset="-120"/>
              </a:rPr>
              <a:t>Rules and checks stop unknown devices from joining the network</a:t>
            </a:r>
            <a:endParaRPr lang="en-US" sz="2000" dirty="0"/>
          </a:p>
        </p:txBody>
      </p:sp>
      <p:sp>
        <p:nvSpPr>
          <p:cNvPr id="21" name="Text 15"/>
          <p:cNvSpPr txBox="1"/>
          <p:nvPr/>
        </p:nvSpPr>
        <p:spPr>
          <a:xfrm>
            <a:off x="6109063" y="5000778"/>
            <a:ext cx="4663440" cy="36576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IT-Only Management</a:t>
            </a:r>
            <a:endParaRPr lang="en-US" sz="2000" dirty="0"/>
          </a:p>
        </p:txBody>
      </p:sp>
      <p:sp>
        <p:nvSpPr>
          <p:cNvPr id="22" name="Text 16"/>
          <p:cNvSpPr txBox="1"/>
          <p:nvPr/>
        </p:nvSpPr>
        <p:spPr>
          <a:xfrm>
            <a:off x="6080760" y="5623560"/>
            <a:ext cx="4663440" cy="548640"/>
          </a:xfrm>
          <a:prstGeom prst="rect">
            <a:avLst/>
          </a:prstGeom>
          <a:noFill/>
          <a:ln/>
        </p:spPr>
        <p:txBody>
          <a:bodyPr wrap="square" lIns="0" tIns="0" rIns="0" bIns="0" rtlCol="0" anchor="ctr"/>
          <a:lstStyle/>
          <a:p>
            <a:pPr marL="0" indent="0">
              <a:lnSpc>
                <a:spcPct val="110000"/>
              </a:lnSpc>
              <a:buNone/>
            </a:pPr>
            <a:r>
              <a:rPr lang="en-US" sz="2000" dirty="0">
                <a:solidFill>
                  <a:srgbClr val="222222"/>
                </a:solidFill>
                <a:latin typeface="Calibri" pitchFamily="34" charset="0"/>
                <a:ea typeface="Calibri" pitchFamily="34" charset="-122"/>
                <a:cs typeface="Calibri" pitchFamily="34" charset="-120"/>
              </a:rPr>
              <a:t>Only IT staff can log in to manage the network equipment</a:t>
            </a:r>
            <a:endParaRPr lang="en-US" sz="2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marL="0" indent="0" algn="l">
              <a:buNone/>
            </a:pPr>
            <a:r>
              <a:rPr lang="en-US" sz="2000" b="1" dirty="0">
                <a:solidFill>
                  <a:srgbClr val="1E2761"/>
                </a:solidFill>
                <a:latin typeface="Cambria" pitchFamily="34" charset="0"/>
                <a:ea typeface="Cambria" pitchFamily="34" charset="-122"/>
                <a:cs typeface="Cambria" pitchFamily="34" charset="-120"/>
              </a:rPr>
              <a:t>How We Built It</a:t>
            </a:r>
            <a:endParaRPr lang="en-US" sz="2000" dirty="0"/>
          </a:p>
        </p:txBody>
      </p:sp>
      <p:sp>
        <p:nvSpPr>
          <p:cNvPr id="3" name="Shape 1"/>
          <p:cNvSpPr/>
          <p:nvPr/>
        </p:nvSpPr>
        <p:spPr>
          <a:xfrm>
            <a:off x="548640" y="1554480"/>
            <a:ext cx="2606040" cy="3291840"/>
          </a:xfrm>
          <a:prstGeom prst="roundRect">
            <a:avLst>
              <a:gd name="adj" fmla="val 3509"/>
            </a:avLst>
          </a:prstGeom>
          <a:solidFill>
            <a:srgbClr val="CADCFC"/>
          </a:solidFill>
          <a:ln/>
        </p:spPr>
      </p:sp>
      <p:sp>
        <p:nvSpPr>
          <p:cNvPr id="6" name="Text 3"/>
          <p:cNvSpPr txBox="1"/>
          <p:nvPr/>
        </p:nvSpPr>
        <p:spPr>
          <a:xfrm>
            <a:off x="721360" y="1636040"/>
            <a:ext cx="1325880" cy="64008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1  Design</a:t>
            </a:r>
            <a:endParaRPr lang="en-US" sz="2000" dirty="0"/>
          </a:p>
        </p:txBody>
      </p:sp>
      <p:sp>
        <p:nvSpPr>
          <p:cNvPr id="7" name="Text 4"/>
          <p:cNvSpPr txBox="1"/>
          <p:nvPr/>
        </p:nvSpPr>
        <p:spPr>
          <a:xfrm>
            <a:off x="822960" y="2276120"/>
            <a:ext cx="2057400" cy="2245080"/>
          </a:xfrm>
          <a:prstGeom prst="rect">
            <a:avLst/>
          </a:prstGeom>
          <a:noFill/>
          <a:ln/>
        </p:spPr>
        <p:txBody>
          <a:bodyPr wrap="square" lIns="0" tIns="0" rIns="0" bIns="0" rtlCol="0" anchor="t"/>
          <a:lstStyle/>
          <a:p>
            <a:pPr marL="0" indent="0">
              <a:lnSpc>
                <a:spcPct val="120000"/>
              </a:lnSpc>
              <a:buNone/>
            </a:pPr>
            <a:r>
              <a:rPr lang="en-US" sz="2000" dirty="0">
                <a:solidFill>
                  <a:srgbClr val="222222"/>
                </a:solidFill>
                <a:latin typeface="Calibri" pitchFamily="34" charset="0"/>
                <a:ea typeface="Calibri" pitchFamily="34" charset="-122"/>
                <a:cs typeface="Calibri" pitchFamily="34" charset="-120"/>
              </a:rPr>
              <a:t>Planned the departments, the address scheme and the layout before touching any equipment.</a:t>
            </a:r>
            <a:endParaRPr lang="en-US" sz="2000" dirty="0"/>
          </a:p>
        </p:txBody>
      </p:sp>
      <p:sp>
        <p:nvSpPr>
          <p:cNvPr id="8" name="Shape 5"/>
          <p:cNvSpPr/>
          <p:nvPr/>
        </p:nvSpPr>
        <p:spPr>
          <a:xfrm>
            <a:off x="3337560" y="1554480"/>
            <a:ext cx="2606040" cy="3291840"/>
          </a:xfrm>
          <a:prstGeom prst="roundRect">
            <a:avLst>
              <a:gd name="adj" fmla="val 3509"/>
            </a:avLst>
          </a:prstGeom>
          <a:solidFill>
            <a:srgbClr val="CADCFC"/>
          </a:solidFill>
          <a:ln/>
        </p:spPr>
      </p:sp>
      <p:sp>
        <p:nvSpPr>
          <p:cNvPr id="11" name="Text 7"/>
          <p:cNvSpPr txBox="1"/>
          <p:nvPr/>
        </p:nvSpPr>
        <p:spPr>
          <a:xfrm>
            <a:off x="3543300" y="1636040"/>
            <a:ext cx="1325880" cy="64008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2  Build</a:t>
            </a:r>
            <a:endParaRPr lang="en-US" sz="2000" dirty="0"/>
          </a:p>
        </p:txBody>
      </p:sp>
      <p:sp>
        <p:nvSpPr>
          <p:cNvPr id="12" name="Text 8"/>
          <p:cNvSpPr txBox="1"/>
          <p:nvPr/>
        </p:nvSpPr>
        <p:spPr>
          <a:xfrm>
            <a:off x="3543300" y="2357680"/>
            <a:ext cx="2057400" cy="2163520"/>
          </a:xfrm>
          <a:prstGeom prst="rect">
            <a:avLst/>
          </a:prstGeom>
          <a:noFill/>
          <a:ln/>
        </p:spPr>
        <p:txBody>
          <a:bodyPr wrap="square" lIns="0" tIns="0" rIns="0" bIns="0" rtlCol="0" anchor="t"/>
          <a:lstStyle/>
          <a:p>
            <a:pPr marL="0" indent="0">
              <a:lnSpc>
                <a:spcPct val="120000"/>
              </a:lnSpc>
              <a:buNone/>
            </a:pPr>
            <a:r>
              <a:rPr lang="en-US" sz="2000" dirty="0">
                <a:solidFill>
                  <a:srgbClr val="222222"/>
                </a:solidFill>
                <a:latin typeface="Calibri" pitchFamily="34" charset="0"/>
                <a:ea typeface="Calibri" pitchFamily="34" charset="-122"/>
                <a:cs typeface="Calibri" pitchFamily="34" charset="-120"/>
              </a:rPr>
              <a:t>Connected the offices, set up routing, backup routers and automatic addressing.</a:t>
            </a:r>
            <a:endParaRPr lang="en-US" sz="2000" dirty="0"/>
          </a:p>
        </p:txBody>
      </p:sp>
      <p:sp>
        <p:nvSpPr>
          <p:cNvPr id="13" name="Shape 9"/>
          <p:cNvSpPr/>
          <p:nvPr/>
        </p:nvSpPr>
        <p:spPr>
          <a:xfrm>
            <a:off x="6126480" y="1554480"/>
            <a:ext cx="2606040" cy="3291840"/>
          </a:xfrm>
          <a:prstGeom prst="roundRect">
            <a:avLst>
              <a:gd name="adj" fmla="val 3509"/>
            </a:avLst>
          </a:prstGeom>
          <a:solidFill>
            <a:srgbClr val="CADCFC"/>
          </a:solidFill>
          <a:ln/>
        </p:spPr>
      </p:sp>
      <p:sp>
        <p:nvSpPr>
          <p:cNvPr id="16" name="Text 11"/>
          <p:cNvSpPr txBox="1"/>
          <p:nvPr/>
        </p:nvSpPr>
        <p:spPr>
          <a:xfrm>
            <a:off x="6332220" y="1628980"/>
            <a:ext cx="1325880" cy="64008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3  Secure</a:t>
            </a:r>
            <a:endParaRPr lang="en-US" sz="2000" dirty="0"/>
          </a:p>
        </p:txBody>
      </p:sp>
      <p:sp>
        <p:nvSpPr>
          <p:cNvPr id="17" name="Text 12"/>
          <p:cNvSpPr txBox="1"/>
          <p:nvPr/>
        </p:nvSpPr>
        <p:spPr>
          <a:xfrm>
            <a:off x="6400800" y="2375460"/>
            <a:ext cx="2057400" cy="1965960"/>
          </a:xfrm>
          <a:prstGeom prst="rect">
            <a:avLst/>
          </a:prstGeom>
          <a:noFill/>
          <a:ln/>
        </p:spPr>
        <p:txBody>
          <a:bodyPr wrap="square" lIns="0" tIns="0" rIns="0" bIns="0" rtlCol="0" anchor="t"/>
          <a:lstStyle/>
          <a:p>
            <a:pPr marL="0" indent="0">
              <a:lnSpc>
                <a:spcPct val="120000"/>
              </a:lnSpc>
              <a:buNone/>
            </a:pPr>
            <a:r>
              <a:rPr lang="en-US" sz="2000" dirty="0">
                <a:solidFill>
                  <a:srgbClr val="222222"/>
                </a:solidFill>
                <a:latin typeface="Calibri" pitchFamily="34" charset="0"/>
                <a:ea typeface="Calibri" pitchFamily="34" charset="-122"/>
                <a:cs typeface="Calibri" pitchFamily="34" charset="-120"/>
              </a:rPr>
              <a:t>Added guest isolation, access rules, device lock-down and rogue-device protection.</a:t>
            </a:r>
            <a:endParaRPr lang="en-US" sz="2000" dirty="0"/>
          </a:p>
        </p:txBody>
      </p:sp>
      <p:sp>
        <p:nvSpPr>
          <p:cNvPr id="18" name="Shape 13"/>
          <p:cNvSpPr/>
          <p:nvPr/>
        </p:nvSpPr>
        <p:spPr>
          <a:xfrm>
            <a:off x="8915400" y="1554480"/>
            <a:ext cx="2606040" cy="3291840"/>
          </a:xfrm>
          <a:prstGeom prst="roundRect">
            <a:avLst>
              <a:gd name="adj" fmla="val 3509"/>
            </a:avLst>
          </a:prstGeom>
          <a:solidFill>
            <a:srgbClr val="CADCFC"/>
          </a:solidFill>
          <a:ln/>
        </p:spPr>
      </p:sp>
      <p:sp>
        <p:nvSpPr>
          <p:cNvPr id="21" name="Text 15"/>
          <p:cNvSpPr txBox="1"/>
          <p:nvPr/>
        </p:nvSpPr>
        <p:spPr>
          <a:xfrm>
            <a:off x="9189720" y="1693288"/>
            <a:ext cx="1282700" cy="575772"/>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4  Test</a:t>
            </a:r>
            <a:endParaRPr lang="en-US" sz="2000" dirty="0"/>
          </a:p>
        </p:txBody>
      </p:sp>
      <p:sp>
        <p:nvSpPr>
          <p:cNvPr id="22" name="Text 16"/>
          <p:cNvSpPr txBox="1"/>
          <p:nvPr/>
        </p:nvSpPr>
        <p:spPr>
          <a:xfrm>
            <a:off x="9006840" y="2357680"/>
            <a:ext cx="2057400" cy="2163520"/>
          </a:xfrm>
          <a:prstGeom prst="rect">
            <a:avLst/>
          </a:prstGeom>
          <a:noFill/>
          <a:ln/>
        </p:spPr>
        <p:txBody>
          <a:bodyPr wrap="square" lIns="0" tIns="0" rIns="0" bIns="0" rtlCol="0" anchor="t"/>
          <a:lstStyle/>
          <a:p>
            <a:pPr marL="0" indent="0">
              <a:lnSpc>
                <a:spcPct val="120000"/>
              </a:lnSpc>
              <a:buNone/>
            </a:pPr>
            <a:r>
              <a:rPr lang="en-US" sz="2000" dirty="0">
                <a:solidFill>
                  <a:srgbClr val="222222"/>
                </a:solidFill>
                <a:latin typeface="Calibri" pitchFamily="34" charset="0"/>
                <a:ea typeface="Calibri" pitchFamily="34" charset="-122"/>
                <a:cs typeface="Calibri" pitchFamily="34" charset="-120"/>
              </a:rPr>
              <a:t>Proved each feature works by breaking things on purpose, like switching off a router.</a:t>
            </a:r>
            <a:endParaRPr lang="en-US" sz="2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marL="0" indent="0" algn="l">
              <a:buNone/>
            </a:pPr>
            <a:r>
              <a:rPr lang="en-US" sz="2000" b="1" dirty="0">
                <a:solidFill>
                  <a:srgbClr val="1E2761"/>
                </a:solidFill>
                <a:latin typeface="Cambria" pitchFamily="34" charset="0"/>
                <a:ea typeface="Cambria" pitchFamily="34" charset="-122"/>
                <a:cs typeface="Cambria" pitchFamily="34" charset="-120"/>
              </a:rPr>
              <a:t>Network Topology</a:t>
            </a:r>
            <a:endParaRPr lang="en-US" sz="2000" dirty="0"/>
          </a:p>
        </p:txBody>
      </p:sp>
      <p:sp>
        <p:nvSpPr>
          <p:cNvPr id="3" name="Shape 1"/>
          <p:cNvSpPr/>
          <p:nvPr/>
        </p:nvSpPr>
        <p:spPr>
          <a:xfrm>
            <a:off x="330200" y="1234440"/>
            <a:ext cx="5029200" cy="4206240"/>
          </a:xfrm>
          <a:prstGeom prst="roundRect">
            <a:avLst>
              <a:gd name="adj" fmla="val 2174"/>
            </a:avLst>
          </a:prstGeom>
          <a:solidFill>
            <a:srgbClr val="CADCFC"/>
          </a:solidFill>
          <a:ln w="12700">
            <a:solidFill>
              <a:srgbClr val="1E2761"/>
            </a:solidFill>
            <a:prstDash val="solid"/>
          </a:ln>
        </p:spPr>
      </p:sp>
      <p:sp>
        <p:nvSpPr>
          <p:cNvPr id="4" name="Text 2"/>
          <p:cNvSpPr txBox="1"/>
          <p:nvPr/>
        </p:nvSpPr>
        <p:spPr>
          <a:xfrm>
            <a:off x="444500" y="1577340"/>
            <a:ext cx="5029200" cy="36576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Head Office — Nairobi</a:t>
            </a:r>
            <a:endParaRPr lang="en-US" sz="2000" dirty="0"/>
          </a:p>
        </p:txBody>
      </p:sp>
      <p:sp>
        <p:nvSpPr>
          <p:cNvPr id="5" name="Shape 3"/>
          <p:cNvSpPr/>
          <p:nvPr/>
        </p:nvSpPr>
        <p:spPr>
          <a:xfrm>
            <a:off x="1508760" y="2148840"/>
            <a:ext cx="1371600" cy="548640"/>
          </a:xfrm>
          <a:prstGeom prst="roundRect">
            <a:avLst>
              <a:gd name="adj" fmla="val 10000"/>
            </a:avLst>
          </a:prstGeom>
          <a:solidFill>
            <a:srgbClr val="1E2761"/>
          </a:solidFill>
          <a:ln/>
        </p:spPr>
      </p:sp>
      <p:sp>
        <p:nvSpPr>
          <p:cNvPr id="6" name="Text 4"/>
          <p:cNvSpPr txBox="1"/>
          <p:nvPr/>
        </p:nvSpPr>
        <p:spPr>
          <a:xfrm>
            <a:off x="1508760" y="2148840"/>
            <a:ext cx="137160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R1 (Active)</a:t>
            </a:r>
            <a:endParaRPr lang="en-US" sz="2000" dirty="0"/>
          </a:p>
        </p:txBody>
      </p:sp>
      <p:sp>
        <p:nvSpPr>
          <p:cNvPr id="7" name="Shape 5"/>
          <p:cNvSpPr/>
          <p:nvPr/>
        </p:nvSpPr>
        <p:spPr>
          <a:xfrm>
            <a:off x="3246120" y="2148840"/>
            <a:ext cx="1371600" cy="548640"/>
          </a:xfrm>
          <a:prstGeom prst="roundRect">
            <a:avLst>
              <a:gd name="adj" fmla="val 10000"/>
            </a:avLst>
          </a:prstGeom>
          <a:solidFill>
            <a:srgbClr val="1E2761"/>
          </a:solidFill>
          <a:ln/>
        </p:spPr>
      </p:sp>
      <p:sp>
        <p:nvSpPr>
          <p:cNvPr id="8" name="Text 6"/>
          <p:cNvSpPr txBox="1"/>
          <p:nvPr/>
        </p:nvSpPr>
        <p:spPr>
          <a:xfrm>
            <a:off x="3246120" y="2148840"/>
            <a:ext cx="137160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R2 (Standby)</a:t>
            </a:r>
            <a:endParaRPr lang="en-US" sz="2000" dirty="0"/>
          </a:p>
        </p:txBody>
      </p:sp>
      <p:sp>
        <p:nvSpPr>
          <p:cNvPr id="9" name="Shape 7"/>
          <p:cNvSpPr/>
          <p:nvPr/>
        </p:nvSpPr>
        <p:spPr>
          <a:xfrm>
            <a:off x="1508760" y="3063240"/>
            <a:ext cx="1371600" cy="548640"/>
          </a:xfrm>
          <a:prstGeom prst="roundRect">
            <a:avLst>
              <a:gd name="adj" fmla="val 10000"/>
            </a:avLst>
          </a:prstGeom>
          <a:solidFill>
            <a:srgbClr val="1E2761"/>
          </a:solidFill>
          <a:ln/>
        </p:spPr>
      </p:sp>
      <p:sp>
        <p:nvSpPr>
          <p:cNvPr id="10" name="Text 8"/>
          <p:cNvSpPr txBox="1"/>
          <p:nvPr/>
        </p:nvSpPr>
        <p:spPr>
          <a:xfrm>
            <a:off x="1508760" y="3063240"/>
            <a:ext cx="137160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SW1</a:t>
            </a:r>
            <a:endParaRPr lang="en-US" sz="2000" dirty="0"/>
          </a:p>
        </p:txBody>
      </p:sp>
      <p:sp>
        <p:nvSpPr>
          <p:cNvPr id="11" name="Shape 9"/>
          <p:cNvSpPr/>
          <p:nvPr/>
        </p:nvSpPr>
        <p:spPr>
          <a:xfrm>
            <a:off x="3246120" y="3063240"/>
            <a:ext cx="1371600" cy="548640"/>
          </a:xfrm>
          <a:prstGeom prst="roundRect">
            <a:avLst>
              <a:gd name="adj" fmla="val 10000"/>
            </a:avLst>
          </a:prstGeom>
          <a:solidFill>
            <a:srgbClr val="1E2761"/>
          </a:solidFill>
          <a:ln/>
        </p:spPr>
      </p:sp>
      <p:sp>
        <p:nvSpPr>
          <p:cNvPr id="12" name="Text 10"/>
          <p:cNvSpPr txBox="1"/>
          <p:nvPr/>
        </p:nvSpPr>
        <p:spPr>
          <a:xfrm>
            <a:off x="3246120" y="3063240"/>
            <a:ext cx="137160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SW2</a:t>
            </a:r>
            <a:endParaRPr lang="en-US" sz="2000" dirty="0"/>
          </a:p>
        </p:txBody>
      </p:sp>
      <p:sp>
        <p:nvSpPr>
          <p:cNvPr id="13" name="Text 11"/>
          <p:cNvSpPr txBox="1"/>
          <p:nvPr/>
        </p:nvSpPr>
        <p:spPr>
          <a:xfrm>
            <a:off x="548640" y="3886200"/>
            <a:ext cx="5029200" cy="640080"/>
          </a:xfrm>
          <a:prstGeom prst="rect">
            <a:avLst/>
          </a:prstGeom>
          <a:noFill/>
          <a:ln/>
        </p:spPr>
        <p:txBody>
          <a:bodyPr wrap="square" lIns="0" tIns="0" rIns="0" bIns="0" rtlCol="0" anchor="ctr"/>
          <a:lstStyle/>
          <a:p>
            <a:pPr marL="0" indent="0" algn="ctr">
              <a:lnSpc>
                <a:spcPct val="120000"/>
              </a:lnSpc>
              <a:buNone/>
            </a:pPr>
            <a:r>
              <a:rPr lang="en-US" sz="2000" i="1" dirty="0">
                <a:solidFill>
                  <a:srgbClr val="1E2761"/>
                </a:solidFill>
                <a:latin typeface="Calibri" pitchFamily="34" charset="0"/>
                <a:ea typeface="Calibri" pitchFamily="34" charset="-122"/>
                <a:cs typeface="Calibri" pitchFamily="34" charset="-120"/>
              </a:rPr>
              <a:t>Two switches linked by two cables</a:t>
            </a:r>
            <a:endParaRPr lang="en-US" sz="2000" dirty="0"/>
          </a:p>
          <a:p>
            <a:pPr marL="0" indent="0" algn="ctr">
              <a:lnSpc>
                <a:spcPct val="120000"/>
              </a:lnSpc>
              <a:buNone/>
            </a:pPr>
            <a:r>
              <a:rPr lang="en-US" sz="2000" i="1" dirty="0">
                <a:solidFill>
                  <a:srgbClr val="1E2761"/>
                </a:solidFill>
                <a:latin typeface="Calibri" pitchFamily="34" charset="0"/>
                <a:ea typeface="Calibri" pitchFamily="34" charset="-122"/>
                <a:cs typeface="Calibri" pitchFamily="34" charset="-120"/>
              </a:rPr>
              <a:t>Two routers: one main, one backup</a:t>
            </a:r>
            <a:endParaRPr lang="en-US" sz="2000" dirty="0"/>
          </a:p>
        </p:txBody>
      </p:sp>
      <p:sp>
        <p:nvSpPr>
          <p:cNvPr id="14" name="Shape 12"/>
          <p:cNvSpPr/>
          <p:nvPr/>
        </p:nvSpPr>
        <p:spPr>
          <a:xfrm>
            <a:off x="6766560" y="1234440"/>
            <a:ext cx="5029200" cy="4206240"/>
          </a:xfrm>
          <a:prstGeom prst="roundRect">
            <a:avLst>
              <a:gd name="adj" fmla="val 2174"/>
            </a:avLst>
          </a:prstGeom>
          <a:solidFill>
            <a:srgbClr val="CADCFC"/>
          </a:solidFill>
          <a:ln w="12700">
            <a:solidFill>
              <a:srgbClr val="1E2761"/>
            </a:solidFill>
            <a:prstDash val="solid"/>
          </a:ln>
        </p:spPr>
      </p:sp>
      <p:sp>
        <p:nvSpPr>
          <p:cNvPr id="15" name="Text 13"/>
          <p:cNvSpPr txBox="1"/>
          <p:nvPr/>
        </p:nvSpPr>
        <p:spPr>
          <a:xfrm>
            <a:off x="6583680" y="1600200"/>
            <a:ext cx="5029200" cy="36576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Branch Office — Eldoret</a:t>
            </a:r>
            <a:endParaRPr lang="en-US" sz="2000" dirty="0"/>
          </a:p>
        </p:txBody>
      </p:sp>
      <p:sp>
        <p:nvSpPr>
          <p:cNvPr id="16" name="Shape 14"/>
          <p:cNvSpPr/>
          <p:nvPr/>
        </p:nvSpPr>
        <p:spPr>
          <a:xfrm>
            <a:off x="7543800" y="2148840"/>
            <a:ext cx="1371600" cy="548640"/>
          </a:xfrm>
          <a:prstGeom prst="roundRect">
            <a:avLst>
              <a:gd name="adj" fmla="val 10000"/>
            </a:avLst>
          </a:prstGeom>
          <a:solidFill>
            <a:srgbClr val="1E2761"/>
          </a:solidFill>
          <a:ln/>
        </p:spPr>
      </p:sp>
      <p:sp>
        <p:nvSpPr>
          <p:cNvPr id="17" name="Text 15"/>
          <p:cNvSpPr txBox="1"/>
          <p:nvPr/>
        </p:nvSpPr>
        <p:spPr>
          <a:xfrm>
            <a:off x="7543800" y="2148840"/>
            <a:ext cx="137160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R1 (Active)</a:t>
            </a:r>
            <a:endParaRPr lang="en-US" sz="2000" dirty="0"/>
          </a:p>
        </p:txBody>
      </p:sp>
      <p:sp>
        <p:nvSpPr>
          <p:cNvPr id="18" name="Shape 16"/>
          <p:cNvSpPr/>
          <p:nvPr/>
        </p:nvSpPr>
        <p:spPr>
          <a:xfrm>
            <a:off x="9281160" y="2148840"/>
            <a:ext cx="1371600" cy="548640"/>
          </a:xfrm>
          <a:prstGeom prst="roundRect">
            <a:avLst>
              <a:gd name="adj" fmla="val 10000"/>
            </a:avLst>
          </a:prstGeom>
          <a:solidFill>
            <a:srgbClr val="1E2761"/>
          </a:solidFill>
          <a:ln/>
        </p:spPr>
      </p:sp>
      <p:sp>
        <p:nvSpPr>
          <p:cNvPr id="19" name="Text 17"/>
          <p:cNvSpPr txBox="1"/>
          <p:nvPr/>
        </p:nvSpPr>
        <p:spPr>
          <a:xfrm>
            <a:off x="9281160" y="2148840"/>
            <a:ext cx="137160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R2 (Standby)</a:t>
            </a:r>
            <a:endParaRPr lang="en-US" sz="2000" dirty="0"/>
          </a:p>
        </p:txBody>
      </p:sp>
      <p:sp>
        <p:nvSpPr>
          <p:cNvPr id="20" name="Shape 18"/>
          <p:cNvSpPr/>
          <p:nvPr/>
        </p:nvSpPr>
        <p:spPr>
          <a:xfrm>
            <a:off x="7543800" y="3063240"/>
            <a:ext cx="1371600" cy="548640"/>
          </a:xfrm>
          <a:prstGeom prst="roundRect">
            <a:avLst>
              <a:gd name="adj" fmla="val 10000"/>
            </a:avLst>
          </a:prstGeom>
          <a:solidFill>
            <a:srgbClr val="1E2761"/>
          </a:solidFill>
          <a:ln/>
        </p:spPr>
      </p:sp>
      <p:sp>
        <p:nvSpPr>
          <p:cNvPr id="21" name="Text 19"/>
          <p:cNvSpPr txBox="1"/>
          <p:nvPr/>
        </p:nvSpPr>
        <p:spPr>
          <a:xfrm>
            <a:off x="7543800" y="3063240"/>
            <a:ext cx="137160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SW1</a:t>
            </a:r>
            <a:endParaRPr lang="en-US" sz="2000" dirty="0"/>
          </a:p>
        </p:txBody>
      </p:sp>
      <p:sp>
        <p:nvSpPr>
          <p:cNvPr id="22" name="Shape 20"/>
          <p:cNvSpPr/>
          <p:nvPr/>
        </p:nvSpPr>
        <p:spPr>
          <a:xfrm>
            <a:off x="9281160" y="3063240"/>
            <a:ext cx="1371600" cy="548640"/>
          </a:xfrm>
          <a:prstGeom prst="roundRect">
            <a:avLst>
              <a:gd name="adj" fmla="val 10000"/>
            </a:avLst>
          </a:prstGeom>
          <a:solidFill>
            <a:srgbClr val="1E2761"/>
          </a:solidFill>
          <a:ln/>
        </p:spPr>
      </p:sp>
      <p:sp>
        <p:nvSpPr>
          <p:cNvPr id="23" name="Text 21"/>
          <p:cNvSpPr txBox="1"/>
          <p:nvPr/>
        </p:nvSpPr>
        <p:spPr>
          <a:xfrm>
            <a:off x="9281160" y="3063240"/>
            <a:ext cx="137160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SW2</a:t>
            </a:r>
            <a:endParaRPr lang="en-US" sz="2000" dirty="0"/>
          </a:p>
        </p:txBody>
      </p:sp>
      <p:sp>
        <p:nvSpPr>
          <p:cNvPr id="24" name="Text 22"/>
          <p:cNvSpPr txBox="1"/>
          <p:nvPr/>
        </p:nvSpPr>
        <p:spPr>
          <a:xfrm>
            <a:off x="6583680" y="3886200"/>
            <a:ext cx="5029200" cy="640080"/>
          </a:xfrm>
          <a:prstGeom prst="rect">
            <a:avLst/>
          </a:prstGeom>
          <a:noFill/>
          <a:ln/>
        </p:spPr>
        <p:txBody>
          <a:bodyPr wrap="square" lIns="0" tIns="0" rIns="0" bIns="0" rtlCol="0" anchor="ctr"/>
          <a:lstStyle/>
          <a:p>
            <a:pPr marL="0" indent="0" algn="ctr">
              <a:lnSpc>
                <a:spcPct val="120000"/>
              </a:lnSpc>
              <a:buNone/>
            </a:pPr>
            <a:r>
              <a:rPr lang="en-US" sz="2000" i="1" dirty="0">
                <a:solidFill>
                  <a:srgbClr val="1E2761"/>
                </a:solidFill>
                <a:latin typeface="Calibri" pitchFamily="34" charset="0"/>
                <a:ea typeface="Calibri" pitchFamily="34" charset="-122"/>
                <a:cs typeface="Calibri" pitchFamily="34" charset="-120"/>
              </a:rPr>
              <a:t>Two switches linked by two cables</a:t>
            </a:r>
            <a:endParaRPr lang="en-US" sz="2000" dirty="0"/>
          </a:p>
          <a:p>
            <a:pPr marL="0" indent="0" algn="ctr">
              <a:lnSpc>
                <a:spcPct val="120000"/>
              </a:lnSpc>
              <a:buNone/>
            </a:pPr>
            <a:r>
              <a:rPr lang="en-US" sz="2000" i="1" dirty="0">
                <a:solidFill>
                  <a:srgbClr val="1E2761"/>
                </a:solidFill>
                <a:latin typeface="Calibri" pitchFamily="34" charset="0"/>
                <a:ea typeface="Calibri" pitchFamily="34" charset="-122"/>
                <a:cs typeface="Calibri" pitchFamily="34" charset="-120"/>
              </a:rPr>
              <a:t>Two routers: one main, one backup</a:t>
            </a:r>
            <a:endParaRPr lang="en-US" sz="2000" dirty="0"/>
          </a:p>
        </p:txBody>
      </p:sp>
      <p:sp>
        <p:nvSpPr>
          <p:cNvPr id="25" name="Shape 23"/>
          <p:cNvSpPr/>
          <p:nvPr/>
        </p:nvSpPr>
        <p:spPr>
          <a:xfrm>
            <a:off x="5359400" y="2834640"/>
            <a:ext cx="1407160" cy="0"/>
          </a:xfrm>
          <a:prstGeom prst="line">
            <a:avLst/>
          </a:prstGeom>
          <a:noFill/>
          <a:ln w="25400">
            <a:solidFill>
              <a:srgbClr val="1E2761"/>
            </a:solidFill>
            <a:prstDash val="solid"/>
          </a:ln>
        </p:spPr>
      </p:sp>
      <p:sp>
        <p:nvSpPr>
          <p:cNvPr id="26" name="Text 24"/>
          <p:cNvSpPr txBox="1"/>
          <p:nvPr/>
        </p:nvSpPr>
        <p:spPr>
          <a:xfrm>
            <a:off x="5349240" y="1783081"/>
            <a:ext cx="1463040" cy="274319"/>
          </a:xfrm>
          <a:prstGeom prst="rect">
            <a:avLst/>
          </a:prstGeom>
          <a:noFill/>
          <a:ln/>
        </p:spPr>
        <p:txBody>
          <a:bodyPr wrap="square" lIns="0" tIns="0" rIns="0" bIns="0" rtlCol="0" anchor="ctr"/>
          <a:lstStyle/>
          <a:p>
            <a:pPr marL="0" indent="0" algn="ctr">
              <a:lnSpc>
                <a:spcPct val="110000"/>
              </a:lnSpc>
              <a:buNone/>
            </a:pPr>
            <a:r>
              <a:rPr lang="en-US" sz="2000" b="1" dirty="0">
                <a:solidFill>
                  <a:srgbClr val="1E2761"/>
                </a:solidFill>
                <a:latin typeface="Calibri" pitchFamily="34" charset="0"/>
                <a:ea typeface="Calibri" pitchFamily="34" charset="-122"/>
                <a:cs typeface="Calibri" pitchFamily="34" charset="-120"/>
              </a:rPr>
              <a:t>WAN Link</a:t>
            </a:r>
            <a:endParaRPr lang="en-US" sz="2000" dirty="0"/>
          </a:p>
          <a:p>
            <a:pPr marL="0" indent="0" algn="ctr">
              <a:lnSpc>
                <a:spcPct val="110000"/>
              </a:lnSpc>
              <a:buNone/>
            </a:pPr>
            <a:r>
              <a:rPr lang="en-US" sz="2000" b="1" dirty="0">
                <a:solidFill>
                  <a:srgbClr val="1E2761"/>
                </a:solidFill>
                <a:latin typeface="Calibri" pitchFamily="34" charset="0"/>
                <a:ea typeface="Calibri" pitchFamily="34" charset="-122"/>
                <a:cs typeface="Calibri" pitchFamily="34" charset="-120"/>
              </a:rPr>
              <a:t>(between offices)</a:t>
            </a:r>
            <a:endParaRPr lang="en-US" sz="2000" dirty="0"/>
          </a:p>
        </p:txBody>
      </p:sp>
      <p:sp>
        <p:nvSpPr>
          <p:cNvPr id="27" name="Text 25"/>
          <p:cNvSpPr txBox="1"/>
          <p:nvPr/>
        </p:nvSpPr>
        <p:spPr>
          <a:xfrm>
            <a:off x="548640" y="5806440"/>
            <a:ext cx="11064240" cy="548640"/>
          </a:xfrm>
          <a:prstGeom prst="rect">
            <a:avLst/>
          </a:prstGeom>
          <a:noFill/>
          <a:ln/>
        </p:spPr>
        <p:txBody>
          <a:bodyPr wrap="square" lIns="0" tIns="0" rIns="0" bIns="0" rtlCol="0" anchor="ctr"/>
          <a:lstStyle/>
          <a:p>
            <a:pPr marL="0" indent="0" algn="ctr">
              <a:buNone/>
            </a:pPr>
            <a:r>
              <a:rPr lang="en-US" sz="2000" i="1" dirty="0">
                <a:solidFill>
                  <a:srgbClr val="222222"/>
                </a:solidFill>
                <a:latin typeface="Calibri" pitchFamily="34" charset="0"/>
                <a:ea typeface="Calibri" pitchFamily="34" charset="-122"/>
                <a:cs typeface="Calibri" pitchFamily="34" charset="-120"/>
              </a:rPr>
              <a:t>Routers direct traffic and switches </a:t>
            </a:r>
            <a:r>
              <a:rPr lang="en-US" sz="2000" i="1" dirty="0" smtClean="0">
                <a:solidFill>
                  <a:srgbClr val="222222"/>
                </a:solidFill>
                <a:latin typeface="Calibri" pitchFamily="34" charset="0"/>
                <a:ea typeface="Calibri" pitchFamily="34" charset="-122"/>
                <a:cs typeface="Calibri" pitchFamily="34" charset="-120"/>
              </a:rPr>
              <a:t>connect the </a:t>
            </a:r>
            <a:r>
              <a:rPr lang="en-US" sz="2000" i="1" dirty="0">
                <a:solidFill>
                  <a:srgbClr val="222222"/>
                </a:solidFill>
                <a:latin typeface="Calibri" pitchFamily="34" charset="0"/>
                <a:ea typeface="Calibri" pitchFamily="34" charset="-122"/>
                <a:cs typeface="Calibri" pitchFamily="34" charset="-120"/>
              </a:rPr>
              <a:t>devices. Each office has two of each, so one can cover for the other.</a:t>
            </a:r>
            <a:endParaRPr lang="en-US" sz="20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Each Department, Its Own Network</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3212266591"/>
              </p:ext>
            </p:extLst>
          </p:nvPr>
        </p:nvGraphicFramePr>
        <p:xfrm>
          <a:off x="640080" y="975360"/>
          <a:ext cx="6949440" cy="4907280"/>
        </p:xfrm>
        <a:graphic>
          <a:graphicData uri="http://schemas.openxmlformats.org/drawingml/2006/table">
            <a:tbl>
              <a:tblPr/>
              <a:tblGrid>
                <a:gridCol w="23774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475488">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VLAN</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1E2761"/>
                    </a:solidFill>
                  </a:tcPr>
                </a:tc>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Gateway (HQ / Branch)</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1E2761"/>
                    </a:solidFill>
                  </a:tcPr>
                </a:tc>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DHCP Range</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75488">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10 - Sales</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10.10.10.1 / 10.20.10.1</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x.x.4-14</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20 - Operations</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10.10.20.1 / 10.20.20.1</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x.x.4-14</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extLst>
                  <a:ext uri="{0D108BD9-81ED-4DB2-BD59-A6C34878D82A}">
                    <a16:rowId xmlns:a16="http://schemas.microsoft.com/office/drawing/2014/main" val="10002"/>
                  </a:ext>
                </a:extLst>
              </a:tr>
              <a:tr h="475488">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30 - IT</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10.10.30.1 / 10.20.30.1</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x.x.4/5-14</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40 - Management (HQ)</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10.10.40.1</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x.x.4-6</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extLst>
                  <a:ext uri="{0D108BD9-81ED-4DB2-BD59-A6C34878D82A}">
                    <a16:rowId xmlns:a16="http://schemas.microsoft.com/office/drawing/2014/main" val="10004"/>
                  </a:ext>
                </a:extLst>
              </a:tr>
              <a:tr h="475488">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50 - Guest</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10.10.50.1 / 10.20.50.1</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x.x.4-6</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99 - Network Mgmt</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10.10.99.1 / 10.20.99.1</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x.x.4-6 (static)</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extLst>
                  <a:ext uri="{0D108BD9-81ED-4DB2-BD59-A6C34878D82A}">
                    <a16:rowId xmlns:a16="http://schemas.microsoft.com/office/drawing/2014/main" val="10006"/>
                  </a:ext>
                </a:extLst>
              </a:tr>
            </a:tbl>
          </a:graphicData>
        </a:graphic>
      </p:graphicFrame>
      <p:sp>
        <p:nvSpPr>
          <p:cNvPr id="4" name="Shape 1"/>
          <p:cNvSpPr/>
          <p:nvPr/>
        </p:nvSpPr>
        <p:spPr>
          <a:xfrm>
            <a:off x="7863840" y="1320800"/>
            <a:ext cx="3749040" cy="3594100"/>
          </a:xfrm>
          <a:prstGeom prst="roundRect">
            <a:avLst>
              <a:gd name="adj" fmla="val 3636"/>
            </a:avLst>
          </a:prstGeom>
          <a:solidFill>
            <a:srgbClr val="1E2761"/>
          </a:solidFill>
          <a:ln/>
        </p:spPr>
      </p:sp>
      <p:sp>
        <p:nvSpPr>
          <p:cNvPr id="5" name="Text 2"/>
          <p:cNvSpPr txBox="1"/>
          <p:nvPr/>
        </p:nvSpPr>
        <p:spPr>
          <a:xfrm>
            <a:off x="7863840" y="1524000"/>
            <a:ext cx="3749040" cy="876300"/>
          </a:xfrm>
          <a:prstGeom prst="rect">
            <a:avLst/>
          </a:prstGeom>
          <a:noFill/>
          <a:ln/>
        </p:spPr>
        <p:txBody>
          <a:bodyPr wrap="square" lIns="0" tIns="0" rIns="0" bIns="0" rtlCol="0" anchor="ctr"/>
          <a:lstStyle/>
          <a:p>
            <a:pPr marL="0" indent="0" algn="ctr">
              <a:buNone/>
            </a:pPr>
            <a:r>
              <a:rPr lang="en-US" sz="5600" b="1" dirty="0">
                <a:solidFill>
                  <a:srgbClr val="FFFFFF"/>
                </a:solidFill>
                <a:latin typeface="Cambria" pitchFamily="34" charset="0"/>
                <a:ea typeface="Cambria" pitchFamily="34" charset="-122"/>
                <a:cs typeface="Cambria" pitchFamily="34" charset="-120"/>
              </a:rPr>
              <a:t>11</a:t>
            </a:r>
            <a:endParaRPr lang="en-US" sz="5600" dirty="0"/>
          </a:p>
        </p:txBody>
      </p:sp>
      <p:sp>
        <p:nvSpPr>
          <p:cNvPr id="6" name="Text 3"/>
          <p:cNvSpPr txBox="1"/>
          <p:nvPr/>
        </p:nvSpPr>
        <p:spPr>
          <a:xfrm>
            <a:off x="7863840" y="2400300"/>
            <a:ext cx="3749040" cy="365760"/>
          </a:xfrm>
          <a:prstGeom prst="rect">
            <a:avLst/>
          </a:prstGeom>
          <a:noFill/>
          <a:ln/>
        </p:spPr>
        <p:txBody>
          <a:bodyPr wrap="square" lIns="0" tIns="0" rIns="0" bIns="0" rtlCol="0" anchor="ctr"/>
          <a:lstStyle/>
          <a:p>
            <a:pPr marL="0" indent="0" algn="ctr">
              <a:buNone/>
            </a:pPr>
            <a:r>
              <a:rPr lang="en-US" sz="1400" dirty="0" smtClean="0">
                <a:solidFill>
                  <a:srgbClr val="CADCFC"/>
                </a:solidFill>
                <a:latin typeface="Calibri" pitchFamily="34" charset="0"/>
                <a:ea typeface="Calibri" pitchFamily="34" charset="-122"/>
                <a:cs typeface="Calibri" pitchFamily="34" charset="-120"/>
              </a:rPr>
              <a:t>Separate networks</a:t>
            </a:r>
            <a:r>
              <a:rPr lang="en-US" sz="1400" dirty="0">
                <a:solidFill>
                  <a:srgbClr val="CADCFC"/>
                </a:solidFill>
                <a:latin typeface="Calibri" pitchFamily="34" charset="0"/>
                <a:ea typeface="Calibri" pitchFamily="34" charset="-122"/>
                <a:cs typeface="Calibri" pitchFamily="34" charset="-120"/>
              </a:rPr>
              <a:t>, sized to fit</a:t>
            </a:r>
            <a:endParaRPr lang="en-US" sz="1400" dirty="0"/>
          </a:p>
        </p:txBody>
      </p:sp>
      <p:sp>
        <p:nvSpPr>
          <p:cNvPr id="7" name="Text 4"/>
          <p:cNvSpPr txBox="1"/>
          <p:nvPr/>
        </p:nvSpPr>
        <p:spPr>
          <a:xfrm>
            <a:off x="8138160" y="2715260"/>
            <a:ext cx="3200400" cy="1719580"/>
          </a:xfrm>
          <a:prstGeom prst="rect">
            <a:avLst/>
          </a:prstGeom>
          <a:noFill/>
          <a:ln/>
        </p:spPr>
        <p:txBody>
          <a:bodyPr wrap="square" lIns="0" tIns="0" rIns="0" bIns="0" rtlCol="0" anchor="ctr"/>
          <a:lstStyle/>
          <a:p>
            <a:pPr marL="0" indent="0" algn="ctr">
              <a:lnSpc>
                <a:spcPct val="130000"/>
              </a:lnSpc>
              <a:buNone/>
            </a:pPr>
            <a:r>
              <a:rPr lang="en-US" sz="2000" dirty="0">
                <a:solidFill>
                  <a:srgbClr val="FFFFFF"/>
                </a:solidFill>
                <a:latin typeface="Calibri" pitchFamily="34" charset="0"/>
                <a:ea typeface="Calibri" pitchFamily="34" charset="-122"/>
                <a:cs typeface="Calibri" pitchFamily="34" charset="-120"/>
              </a:rPr>
              <a:t>Bigger networks for bigger teams</a:t>
            </a:r>
            <a:endParaRPr lang="en-US" sz="2000" dirty="0"/>
          </a:p>
          <a:p>
            <a:pPr marL="0" indent="0" algn="ctr">
              <a:lnSpc>
                <a:spcPct val="130000"/>
              </a:lnSpc>
              <a:buNone/>
            </a:pPr>
            <a:r>
              <a:rPr lang="en-US" sz="2000" dirty="0">
                <a:solidFill>
                  <a:srgbClr val="FFFFFF"/>
                </a:solidFill>
                <a:latin typeface="Calibri" pitchFamily="34" charset="0"/>
                <a:ea typeface="Calibri" pitchFamily="34" charset="-122"/>
                <a:cs typeface="Calibri" pitchFamily="34" charset="-120"/>
              </a:rPr>
              <a:t>Smaller ones for Management,</a:t>
            </a:r>
            <a:endParaRPr lang="en-US" sz="2000" dirty="0"/>
          </a:p>
          <a:p>
            <a:pPr marL="0" indent="0" algn="ctr">
              <a:lnSpc>
                <a:spcPct val="130000"/>
              </a:lnSpc>
              <a:buNone/>
            </a:pPr>
            <a:r>
              <a:rPr lang="en-US" sz="2000" dirty="0">
                <a:solidFill>
                  <a:srgbClr val="FFFFFF"/>
                </a:solidFill>
                <a:latin typeface="Calibri" pitchFamily="34" charset="0"/>
                <a:ea typeface="Calibri" pitchFamily="34" charset="-122"/>
                <a:cs typeface="Calibri" pitchFamily="34" charset="-120"/>
              </a:rPr>
              <a:t>Guest and network equipment</a:t>
            </a:r>
            <a:endParaRPr lang="en-US" sz="2000" dirty="0"/>
          </a:p>
        </p:txBody>
      </p:sp>
      <p:sp>
        <p:nvSpPr>
          <p:cNvPr id="3" name="Text 5"/>
          <p:cNvSpPr txBox="1"/>
          <p:nvPr/>
        </p:nvSpPr>
        <p:spPr>
          <a:xfrm>
            <a:off x="548640" y="5806440"/>
            <a:ext cx="11064240" cy="548640"/>
          </a:xfrm>
          <a:prstGeom prst="rect">
            <a:avLst/>
          </a:prstGeom>
          <a:noFill/>
          <a:ln/>
        </p:spPr>
        <p:txBody>
          <a:bodyPr wrap="square" lIns="0" tIns="0" rIns="0" bIns="0" rtlCol="0" anchor="ctr"/>
          <a:lstStyle/>
          <a:p>
            <a:pPr marL="0" indent="0" algn="ctr">
              <a:buNone/>
            </a:pPr>
            <a:r>
              <a:rPr lang="en-US" sz="2000" i="1" dirty="0">
                <a:solidFill>
                  <a:srgbClr val="222222"/>
                </a:solidFill>
                <a:latin typeface="Calibri" pitchFamily="34" charset="0"/>
                <a:ea typeface="Calibri" pitchFamily="34" charset="-122"/>
                <a:cs typeface="Calibri" pitchFamily="34" charset="-120"/>
              </a:rPr>
              <a:t>Think of each VLAN as a department's private street. Addresses are handed out automatically and sized to fit each team, with room to grow.</a:t>
            </a:r>
            <a:endParaRPr lang="en-US" sz="2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marL="0" indent="0" algn="l">
              <a:buNone/>
            </a:pPr>
            <a:r>
              <a:rPr lang="en-US" sz="2000" b="1" dirty="0">
                <a:solidFill>
                  <a:srgbClr val="1E2761"/>
                </a:solidFill>
                <a:latin typeface="Cambria" pitchFamily="34" charset="0"/>
                <a:ea typeface="Cambria" pitchFamily="34" charset="-122"/>
                <a:cs typeface="Cambria" pitchFamily="34" charset="-120"/>
              </a:rPr>
              <a:t>Reading an Address: 10.20.30.2</a:t>
            </a:r>
            <a:endParaRPr lang="en-US" sz="2000" dirty="0"/>
          </a:p>
        </p:txBody>
      </p:sp>
      <p:sp>
        <p:nvSpPr>
          <p:cNvPr id="3" name="Shape 1"/>
          <p:cNvSpPr/>
          <p:nvPr/>
        </p:nvSpPr>
        <p:spPr>
          <a:xfrm>
            <a:off x="548640" y="1554480"/>
            <a:ext cx="2606040" cy="3566160"/>
          </a:xfrm>
          <a:prstGeom prst="roundRect">
            <a:avLst>
              <a:gd name="adj" fmla="val 3509"/>
            </a:avLst>
          </a:prstGeom>
          <a:solidFill>
            <a:srgbClr val="CADCFC"/>
          </a:solidFill>
          <a:ln/>
        </p:spPr>
      </p:sp>
      <p:sp>
        <p:nvSpPr>
          <p:cNvPr id="4" name="Text 2"/>
          <p:cNvSpPr txBox="1"/>
          <p:nvPr/>
        </p:nvSpPr>
        <p:spPr>
          <a:xfrm>
            <a:off x="548640" y="1783080"/>
            <a:ext cx="2606040" cy="64262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10</a:t>
            </a:r>
            <a:endParaRPr lang="en-US" sz="2000" dirty="0"/>
          </a:p>
        </p:txBody>
      </p:sp>
      <p:sp>
        <p:nvSpPr>
          <p:cNvPr id="5" name="Text 3"/>
          <p:cNvSpPr txBox="1"/>
          <p:nvPr/>
        </p:nvSpPr>
        <p:spPr>
          <a:xfrm>
            <a:off x="731520" y="2331720"/>
            <a:ext cx="2240280" cy="41148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Company network</a:t>
            </a:r>
            <a:endParaRPr lang="en-US" sz="2000" dirty="0"/>
          </a:p>
        </p:txBody>
      </p:sp>
      <p:sp>
        <p:nvSpPr>
          <p:cNvPr id="6" name="Text 4"/>
          <p:cNvSpPr txBox="1"/>
          <p:nvPr/>
        </p:nvSpPr>
        <p:spPr>
          <a:xfrm>
            <a:off x="777240" y="3152140"/>
            <a:ext cx="2148840" cy="1554480"/>
          </a:xfrm>
          <a:prstGeom prst="rect">
            <a:avLst/>
          </a:prstGeom>
          <a:noFill/>
          <a:ln/>
        </p:spPr>
        <p:txBody>
          <a:bodyPr wrap="square" lIns="0" tIns="0" rIns="0" bIns="0" rtlCol="0" anchor="t"/>
          <a:lstStyle/>
          <a:p>
            <a:pPr marL="0" indent="0" algn="ctr">
              <a:lnSpc>
                <a:spcPct val="120000"/>
              </a:lnSpc>
              <a:buNone/>
            </a:pPr>
            <a:r>
              <a:rPr lang="en-US" sz="2000" dirty="0">
                <a:solidFill>
                  <a:srgbClr val="222222"/>
                </a:solidFill>
                <a:latin typeface="Calibri" pitchFamily="34" charset="0"/>
                <a:ea typeface="Calibri" pitchFamily="34" charset="-122"/>
                <a:cs typeface="Calibri" pitchFamily="34" charset="-120"/>
              </a:rPr>
              <a:t>Every Nexora address starts here: private, inside the company.</a:t>
            </a:r>
            <a:endParaRPr lang="en-US" sz="2000" dirty="0"/>
          </a:p>
        </p:txBody>
      </p:sp>
      <p:sp>
        <p:nvSpPr>
          <p:cNvPr id="7" name="Shape 5"/>
          <p:cNvSpPr/>
          <p:nvPr/>
        </p:nvSpPr>
        <p:spPr>
          <a:xfrm>
            <a:off x="3337560" y="1554480"/>
            <a:ext cx="2606040" cy="3566160"/>
          </a:xfrm>
          <a:prstGeom prst="roundRect">
            <a:avLst>
              <a:gd name="adj" fmla="val 3509"/>
            </a:avLst>
          </a:prstGeom>
          <a:solidFill>
            <a:srgbClr val="CADCFC"/>
          </a:solidFill>
          <a:ln/>
        </p:spPr>
      </p:sp>
      <p:sp>
        <p:nvSpPr>
          <p:cNvPr id="8" name="Text 6"/>
          <p:cNvSpPr txBox="1"/>
          <p:nvPr/>
        </p:nvSpPr>
        <p:spPr>
          <a:xfrm>
            <a:off x="3337560" y="1783080"/>
            <a:ext cx="2606040" cy="64262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20</a:t>
            </a:r>
            <a:endParaRPr lang="en-US" sz="2000" dirty="0"/>
          </a:p>
        </p:txBody>
      </p:sp>
      <p:sp>
        <p:nvSpPr>
          <p:cNvPr id="9" name="Text 7"/>
          <p:cNvSpPr txBox="1"/>
          <p:nvPr/>
        </p:nvSpPr>
        <p:spPr>
          <a:xfrm>
            <a:off x="3474720" y="2448560"/>
            <a:ext cx="2240280" cy="41148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Which office</a:t>
            </a:r>
            <a:endParaRPr lang="en-US" sz="2000" dirty="0"/>
          </a:p>
        </p:txBody>
      </p:sp>
      <p:sp>
        <p:nvSpPr>
          <p:cNvPr id="10" name="Text 8"/>
          <p:cNvSpPr txBox="1"/>
          <p:nvPr/>
        </p:nvSpPr>
        <p:spPr>
          <a:xfrm>
            <a:off x="3566160" y="3210560"/>
            <a:ext cx="2148840" cy="1554480"/>
          </a:xfrm>
          <a:prstGeom prst="rect">
            <a:avLst/>
          </a:prstGeom>
          <a:noFill/>
          <a:ln/>
        </p:spPr>
        <p:txBody>
          <a:bodyPr wrap="square" lIns="0" tIns="0" rIns="0" bIns="0" rtlCol="0" anchor="t"/>
          <a:lstStyle/>
          <a:p>
            <a:pPr marL="0" indent="0" algn="ctr">
              <a:lnSpc>
                <a:spcPct val="120000"/>
              </a:lnSpc>
              <a:buNone/>
            </a:pPr>
            <a:r>
              <a:rPr lang="en-US" sz="2000" dirty="0">
                <a:solidFill>
                  <a:srgbClr val="222222"/>
                </a:solidFill>
                <a:latin typeface="Calibri" pitchFamily="34" charset="0"/>
                <a:ea typeface="Calibri" pitchFamily="34" charset="-122"/>
                <a:cs typeface="Calibri" pitchFamily="34" charset="-120"/>
              </a:rPr>
              <a:t>10 = Head Office</a:t>
            </a:r>
            <a:r>
              <a:rPr lang="en-US" sz="2000" dirty="0" smtClean="0">
                <a:solidFill>
                  <a:srgbClr val="222222"/>
                </a:solidFill>
                <a:latin typeface="Calibri" pitchFamily="34" charset="0"/>
                <a:ea typeface="Calibri" pitchFamily="34" charset="-122"/>
                <a:cs typeface="Calibri" pitchFamily="34" charset="-120"/>
              </a:rPr>
              <a:t>,</a:t>
            </a:r>
          </a:p>
          <a:p>
            <a:pPr marL="0" indent="0" algn="ctr">
              <a:lnSpc>
                <a:spcPct val="120000"/>
              </a:lnSpc>
              <a:buNone/>
            </a:pPr>
            <a:r>
              <a:rPr lang="en-US" sz="2000" dirty="0" smtClean="0">
                <a:solidFill>
                  <a:srgbClr val="222222"/>
                </a:solidFill>
                <a:latin typeface="Calibri" pitchFamily="34" charset="0"/>
                <a:ea typeface="Calibri" pitchFamily="34" charset="-122"/>
                <a:cs typeface="Calibri" pitchFamily="34" charset="-120"/>
              </a:rPr>
              <a:t> </a:t>
            </a:r>
            <a:r>
              <a:rPr lang="en-US" sz="2000" dirty="0">
                <a:solidFill>
                  <a:srgbClr val="222222"/>
                </a:solidFill>
                <a:latin typeface="Calibri" pitchFamily="34" charset="0"/>
                <a:ea typeface="Calibri" pitchFamily="34" charset="-122"/>
                <a:cs typeface="Calibri" pitchFamily="34" charset="-120"/>
              </a:rPr>
              <a:t>20 = Branch. </a:t>
            </a:r>
            <a:endParaRPr lang="en-US" sz="2000" dirty="0"/>
          </a:p>
        </p:txBody>
      </p:sp>
      <p:sp>
        <p:nvSpPr>
          <p:cNvPr id="11" name="Shape 9"/>
          <p:cNvSpPr/>
          <p:nvPr/>
        </p:nvSpPr>
        <p:spPr>
          <a:xfrm>
            <a:off x="6126480" y="1554480"/>
            <a:ext cx="2606040" cy="3566160"/>
          </a:xfrm>
          <a:prstGeom prst="roundRect">
            <a:avLst>
              <a:gd name="adj" fmla="val 3509"/>
            </a:avLst>
          </a:prstGeom>
          <a:solidFill>
            <a:srgbClr val="CADCFC"/>
          </a:solidFill>
          <a:ln/>
        </p:spPr>
      </p:sp>
      <p:sp>
        <p:nvSpPr>
          <p:cNvPr id="12" name="Text 10"/>
          <p:cNvSpPr txBox="1"/>
          <p:nvPr/>
        </p:nvSpPr>
        <p:spPr>
          <a:xfrm>
            <a:off x="6126480" y="1783080"/>
            <a:ext cx="2606040" cy="54864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30</a:t>
            </a:r>
            <a:endParaRPr lang="en-US" sz="2000" dirty="0"/>
          </a:p>
        </p:txBody>
      </p:sp>
      <p:sp>
        <p:nvSpPr>
          <p:cNvPr id="13" name="Text 11"/>
          <p:cNvSpPr txBox="1"/>
          <p:nvPr/>
        </p:nvSpPr>
        <p:spPr>
          <a:xfrm>
            <a:off x="6355080" y="2448560"/>
            <a:ext cx="2240280" cy="41148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Which department</a:t>
            </a:r>
            <a:endParaRPr lang="en-US" sz="2000" dirty="0"/>
          </a:p>
        </p:txBody>
      </p:sp>
      <p:sp>
        <p:nvSpPr>
          <p:cNvPr id="14" name="Text 12"/>
          <p:cNvSpPr txBox="1"/>
          <p:nvPr/>
        </p:nvSpPr>
        <p:spPr>
          <a:xfrm>
            <a:off x="6309360" y="3086100"/>
            <a:ext cx="2148840" cy="1554480"/>
          </a:xfrm>
          <a:prstGeom prst="rect">
            <a:avLst/>
          </a:prstGeom>
          <a:noFill/>
          <a:ln/>
        </p:spPr>
        <p:txBody>
          <a:bodyPr wrap="square" lIns="0" tIns="0" rIns="0" bIns="0" rtlCol="0" anchor="t"/>
          <a:lstStyle/>
          <a:p>
            <a:pPr marL="0" indent="0" algn="ctr">
              <a:lnSpc>
                <a:spcPct val="120000"/>
              </a:lnSpc>
              <a:buNone/>
            </a:pPr>
            <a:r>
              <a:rPr lang="en-US" sz="2000" dirty="0">
                <a:solidFill>
                  <a:srgbClr val="222222"/>
                </a:solidFill>
                <a:latin typeface="Calibri" pitchFamily="34" charset="0"/>
                <a:ea typeface="Calibri" pitchFamily="34" charset="-122"/>
                <a:cs typeface="Calibri" pitchFamily="34" charset="-120"/>
              </a:rPr>
              <a:t>Matches the VLAN: 10 = Sales, 20 = Operations, 30 = IT.</a:t>
            </a:r>
            <a:endParaRPr lang="en-US" sz="2000" dirty="0"/>
          </a:p>
        </p:txBody>
      </p:sp>
      <p:sp>
        <p:nvSpPr>
          <p:cNvPr id="15" name="Shape 13"/>
          <p:cNvSpPr/>
          <p:nvPr/>
        </p:nvSpPr>
        <p:spPr>
          <a:xfrm>
            <a:off x="8915400" y="1554480"/>
            <a:ext cx="2606040" cy="3566160"/>
          </a:xfrm>
          <a:prstGeom prst="roundRect">
            <a:avLst>
              <a:gd name="adj" fmla="val 3509"/>
            </a:avLst>
          </a:prstGeom>
          <a:solidFill>
            <a:srgbClr val="CADCFC"/>
          </a:solidFill>
          <a:ln/>
        </p:spPr>
      </p:sp>
      <p:sp>
        <p:nvSpPr>
          <p:cNvPr id="16" name="Text 14"/>
          <p:cNvSpPr txBox="1"/>
          <p:nvPr/>
        </p:nvSpPr>
        <p:spPr>
          <a:xfrm>
            <a:off x="8915400" y="1676400"/>
            <a:ext cx="2606040" cy="65532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2</a:t>
            </a:r>
            <a:endParaRPr lang="en-US" sz="2000" dirty="0"/>
          </a:p>
        </p:txBody>
      </p:sp>
      <p:sp>
        <p:nvSpPr>
          <p:cNvPr id="17" name="Text 15"/>
          <p:cNvSpPr txBox="1"/>
          <p:nvPr/>
        </p:nvSpPr>
        <p:spPr>
          <a:xfrm>
            <a:off x="9052560" y="2491740"/>
            <a:ext cx="2240280" cy="41148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Which device</a:t>
            </a:r>
            <a:endParaRPr lang="en-US" sz="2000" dirty="0"/>
          </a:p>
        </p:txBody>
      </p:sp>
      <p:sp>
        <p:nvSpPr>
          <p:cNvPr id="18" name="Text 16"/>
          <p:cNvSpPr txBox="1"/>
          <p:nvPr/>
        </p:nvSpPr>
        <p:spPr>
          <a:xfrm>
            <a:off x="9144000" y="3152140"/>
            <a:ext cx="2148840" cy="1554480"/>
          </a:xfrm>
          <a:prstGeom prst="rect">
            <a:avLst/>
          </a:prstGeom>
          <a:noFill/>
          <a:ln/>
        </p:spPr>
        <p:txBody>
          <a:bodyPr wrap="square" lIns="0" tIns="0" rIns="0" bIns="0" rtlCol="0" anchor="t"/>
          <a:lstStyle/>
          <a:p>
            <a:pPr marL="0" indent="0" algn="ctr">
              <a:lnSpc>
                <a:spcPct val="120000"/>
              </a:lnSpc>
              <a:buNone/>
            </a:pPr>
            <a:r>
              <a:rPr lang="en-US" sz="2000" dirty="0">
                <a:solidFill>
                  <a:srgbClr val="222222"/>
                </a:solidFill>
                <a:latin typeface="Calibri" pitchFamily="34" charset="0"/>
                <a:ea typeface="Calibri" pitchFamily="34" charset="-122"/>
                <a:cs typeface="Calibri" pitchFamily="34" charset="-120"/>
              </a:rPr>
              <a:t>1 = shared gateway, 2 = main router, 3 = backup router, 4 and up = devices.</a:t>
            </a:r>
            <a:endParaRPr lang="en-US" sz="20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End Devices</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10698480" cy="4114800"/>
        </p:xfrm>
        <a:graphic>
          <a:graphicData uri="http://schemas.openxmlformats.org/drawingml/2006/table">
            <a:tbl>
              <a:tblPr/>
              <a:tblGrid>
                <a:gridCol w="26517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tblGrid>
              <a:tr h="41148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Site</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1E2761"/>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Department</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1E2761"/>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Devices</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11480">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Head Office</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Sales</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PC, Shared Printer*</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Head Office</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Operations</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PC</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extLst>
                  <a:ext uri="{0D108BD9-81ED-4DB2-BD59-A6C34878D82A}">
                    <a16:rowId xmlns:a16="http://schemas.microsoft.com/office/drawing/2014/main" val="10002"/>
                  </a:ext>
                </a:extLst>
              </a:tr>
              <a:tr h="411480">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Head Office</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IT</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PC, Laptop, File Server</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Head Office</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Management</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PC</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extLst>
                  <a:ext uri="{0D108BD9-81ED-4DB2-BD59-A6C34878D82A}">
                    <a16:rowId xmlns:a16="http://schemas.microsoft.com/office/drawing/2014/main" val="10004"/>
                  </a:ext>
                </a:extLst>
              </a:tr>
              <a:tr h="411480">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Head Office</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Guest</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Wireless Laptop (via AP)</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Branch Office</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Sales</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PC, Shared Printer*</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extLst>
                  <a:ext uri="{0D108BD9-81ED-4DB2-BD59-A6C34878D82A}">
                    <a16:rowId xmlns:a16="http://schemas.microsoft.com/office/drawing/2014/main" val="10006"/>
                  </a:ext>
                </a:extLst>
              </a:tr>
              <a:tr h="411480">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Branch Office</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Operations</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PC</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11480">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Branch Office</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IT</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PC</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extLst>
                  <a:ext uri="{0D108BD9-81ED-4DB2-BD59-A6C34878D82A}">
                    <a16:rowId xmlns:a16="http://schemas.microsoft.com/office/drawing/2014/main" val="10008"/>
                  </a:ext>
                </a:extLst>
              </a:tr>
              <a:tr h="411480">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Branch Office</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Guest</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22222"/>
                          </a:solidFill>
                          <a:latin typeface="Calibri" pitchFamily="34" charset="0"/>
                          <a:ea typeface="Calibri" pitchFamily="34" charset="-122"/>
                          <a:cs typeface="Calibri" pitchFamily="34" charset="-120"/>
                        </a:rPr>
                        <a:t>Wireless Laptop (via AP)</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How the Offices Talk: Routing</a:t>
            </a:r>
            <a:endParaRPr lang="en-US" sz="3000" dirty="0"/>
          </a:p>
        </p:txBody>
      </p:sp>
      <p:sp>
        <p:nvSpPr>
          <p:cNvPr id="5" name="Text 2"/>
          <p:cNvSpPr txBox="1"/>
          <p:nvPr/>
        </p:nvSpPr>
        <p:spPr>
          <a:xfrm>
            <a:off x="760180" y="1325880"/>
            <a:ext cx="9509760" cy="457200"/>
          </a:xfrm>
          <a:prstGeom prst="rect">
            <a:avLst/>
          </a:prstGeom>
          <a:noFill/>
          <a:ln/>
        </p:spPr>
        <p:txBody>
          <a:bodyPr wrap="square" lIns="0" tIns="0" rIns="0" bIns="0" rtlCol="0" anchor="ctr"/>
          <a:lstStyle/>
          <a:p>
            <a:pPr marL="0" indent="0">
              <a:buNone/>
            </a:pPr>
            <a:r>
              <a:rPr lang="en-US" sz="2000" b="1" dirty="0" smtClean="0">
                <a:solidFill>
                  <a:srgbClr val="1E2761"/>
                </a:solidFill>
                <a:latin typeface="Cambria" pitchFamily="34" charset="0"/>
                <a:ea typeface="Cambria" pitchFamily="34" charset="-122"/>
                <a:cs typeface="Cambria" pitchFamily="34" charset="-120"/>
              </a:rPr>
              <a:t>One </a:t>
            </a:r>
            <a:r>
              <a:rPr lang="en-US" sz="2000" b="1" dirty="0">
                <a:solidFill>
                  <a:srgbClr val="1E2761"/>
                </a:solidFill>
                <a:latin typeface="Cambria" pitchFamily="34" charset="0"/>
                <a:ea typeface="Cambria" pitchFamily="34" charset="-122"/>
                <a:cs typeface="Cambria" pitchFamily="34" charset="-120"/>
              </a:rPr>
              <a:t>WAN link</a:t>
            </a:r>
            <a:endParaRPr lang="en-US" sz="2000" dirty="0"/>
          </a:p>
        </p:txBody>
      </p:sp>
      <p:sp>
        <p:nvSpPr>
          <p:cNvPr id="6" name="Text 3"/>
          <p:cNvSpPr txBox="1"/>
          <p:nvPr/>
        </p:nvSpPr>
        <p:spPr>
          <a:xfrm>
            <a:off x="760180" y="1775233"/>
            <a:ext cx="9509760" cy="822960"/>
          </a:xfrm>
          <a:prstGeom prst="rect">
            <a:avLst/>
          </a:prstGeom>
          <a:noFill/>
          <a:ln/>
        </p:spPr>
        <p:txBody>
          <a:bodyPr wrap="square" lIns="0" tIns="0" rIns="0" bIns="0" rtlCol="0" anchor="ctr"/>
          <a:lstStyle/>
          <a:p>
            <a:pPr marL="0" indent="0">
              <a:lnSpc>
                <a:spcPct val="120000"/>
              </a:lnSpc>
              <a:buNone/>
            </a:pPr>
            <a:r>
              <a:rPr lang="en-US" sz="2000" dirty="0">
                <a:solidFill>
                  <a:srgbClr val="222222"/>
                </a:solidFill>
                <a:latin typeface="Calibri" pitchFamily="34" charset="0"/>
                <a:ea typeface="Calibri" pitchFamily="34" charset="-122"/>
                <a:cs typeface="Calibri" pitchFamily="34" charset="-120"/>
              </a:rPr>
              <a:t>A single dedicated connection joins Nairobi and Eldoret</a:t>
            </a:r>
            <a:r>
              <a:rPr lang="en-US" sz="2000" dirty="0" smtClean="0">
                <a:solidFill>
                  <a:srgbClr val="222222"/>
                </a:solidFill>
                <a:latin typeface="Calibri" pitchFamily="34" charset="0"/>
                <a:ea typeface="Calibri" pitchFamily="34" charset="-122"/>
                <a:cs typeface="Calibri" pitchFamily="34" charset="-120"/>
              </a:rPr>
              <a:t>..</a:t>
            </a:r>
            <a:endParaRPr lang="en-US" sz="2000" dirty="0"/>
          </a:p>
        </p:txBody>
      </p:sp>
      <p:sp>
        <p:nvSpPr>
          <p:cNvPr id="9" name="Text 5"/>
          <p:cNvSpPr txBox="1"/>
          <p:nvPr/>
        </p:nvSpPr>
        <p:spPr>
          <a:xfrm>
            <a:off x="760180" y="2510676"/>
            <a:ext cx="9509760" cy="457200"/>
          </a:xfrm>
          <a:prstGeom prst="rect">
            <a:avLst/>
          </a:prstGeom>
          <a:noFill/>
          <a:ln/>
        </p:spPr>
        <p:txBody>
          <a:bodyPr wrap="square" lIns="0" tIns="0" rIns="0" bIns="0" rtlCol="0" anchor="ctr"/>
          <a:lstStyle/>
          <a:p>
            <a:pPr marL="0" indent="0">
              <a:buNone/>
            </a:pPr>
            <a:r>
              <a:rPr lang="en-US" sz="1900" b="1" dirty="0">
                <a:solidFill>
                  <a:srgbClr val="1E2761"/>
                </a:solidFill>
                <a:latin typeface="Cambria" pitchFamily="34" charset="0"/>
                <a:ea typeface="Cambria" pitchFamily="34" charset="-122"/>
                <a:cs typeface="Cambria" pitchFamily="34" charset="-120"/>
              </a:rPr>
              <a:t>A shared </a:t>
            </a:r>
            <a:r>
              <a:rPr lang="en-US" sz="2000" b="1" dirty="0">
                <a:solidFill>
                  <a:srgbClr val="1E2761"/>
                </a:solidFill>
                <a:latin typeface="Cambria" pitchFamily="34" charset="0"/>
                <a:ea typeface="Cambria" pitchFamily="34" charset="-122"/>
                <a:cs typeface="Cambria" pitchFamily="34" charset="-120"/>
              </a:rPr>
              <a:t>map</a:t>
            </a:r>
            <a:r>
              <a:rPr lang="en-US" sz="1900" b="1" dirty="0">
                <a:solidFill>
                  <a:srgbClr val="1E2761"/>
                </a:solidFill>
                <a:latin typeface="Cambria" pitchFamily="34" charset="0"/>
                <a:ea typeface="Cambria" pitchFamily="34" charset="-122"/>
                <a:cs typeface="Cambria" pitchFamily="34" charset="-120"/>
              </a:rPr>
              <a:t> (OSPF)</a:t>
            </a:r>
            <a:endParaRPr lang="en-US" sz="1900" dirty="0"/>
          </a:p>
        </p:txBody>
      </p:sp>
      <p:sp>
        <p:nvSpPr>
          <p:cNvPr id="10" name="Text 6"/>
          <p:cNvSpPr txBox="1"/>
          <p:nvPr/>
        </p:nvSpPr>
        <p:spPr>
          <a:xfrm>
            <a:off x="760180" y="3047546"/>
            <a:ext cx="9509760" cy="822960"/>
          </a:xfrm>
          <a:prstGeom prst="rect">
            <a:avLst/>
          </a:prstGeom>
          <a:noFill/>
          <a:ln/>
        </p:spPr>
        <p:txBody>
          <a:bodyPr wrap="square" lIns="0" tIns="0" rIns="0" bIns="0" rtlCol="0" anchor="ctr"/>
          <a:lstStyle/>
          <a:p>
            <a:pPr marL="0" indent="0">
              <a:lnSpc>
                <a:spcPct val="120000"/>
              </a:lnSpc>
              <a:buNone/>
            </a:pPr>
            <a:r>
              <a:rPr lang="en-US" sz="2000" dirty="0">
                <a:solidFill>
                  <a:srgbClr val="222222"/>
                </a:solidFill>
                <a:latin typeface="Calibri" pitchFamily="34" charset="0"/>
                <a:ea typeface="Calibri" pitchFamily="34" charset="-122"/>
                <a:cs typeface="Calibri" pitchFamily="34" charset="-120"/>
              </a:rPr>
              <a:t>Every router tells its neighbours what it can reach, so each one learns the route to every department in both offices.</a:t>
            </a:r>
            <a:endParaRPr lang="en-US" sz="2000" dirty="0"/>
          </a:p>
        </p:txBody>
      </p:sp>
      <p:sp>
        <p:nvSpPr>
          <p:cNvPr id="13" name="Text 8"/>
          <p:cNvSpPr txBox="1"/>
          <p:nvPr/>
        </p:nvSpPr>
        <p:spPr>
          <a:xfrm>
            <a:off x="760180" y="3897970"/>
            <a:ext cx="9509760" cy="45720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Self-updating</a:t>
            </a:r>
            <a:endParaRPr lang="en-US" sz="2000" dirty="0"/>
          </a:p>
        </p:txBody>
      </p:sp>
      <p:sp>
        <p:nvSpPr>
          <p:cNvPr id="14" name="Text 9"/>
          <p:cNvSpPr txBox="1"/>
          <p:nvPr/>
        </p:nvSpPr>
        <p:spPr>
          <a:xfrm>
            <a:off x="760180" y="4389120"/>
            <a:ext cx="9509760" cy="822960"/>
          </a:xfrm>
          <a:prstGeom prst="rect">
            <a:avLst/>
          </a:prstGeom>
          <a:noFill/>
          <a:ln/>
        </p:spPr>
        <p:txBody>
          <a:bodyPr wrap="square" lIns="0" tIns="0" rIns="0" bIns="0" rtlCol="0" anchor="ctr"/>
          <a:lstStyle/>
          <a:p>
            <a:pPr marL="0" indent="0">
              <a:lnSpc>
                <a:spcPct val="120000"/>
              </a:lnSpc>
              <a:buNone/>
            </a:pPr>
            <a:r>
              <a:rPr lang="en-US" sz="2000" dirty="0">
                <a:solidFill>
                  <a:srgbClr val="222222"/>
                </a:solidFill>
                <a:latin typeface="Calibri" pitchFamily="34" charset="0"/>
                <a:ea typeface="Calibri" pitchFamily="34" charset="-122"/>
                <a:cs typeface="Calibri" pitchFamily="34" charset="-120"/>
              </a:rPr>
              <a:t>If a path changes, the routers update their map automatically. Nothing is re-entered by hand.</a:t>
            </a:r>
            <a:endParaRPr lang="en-US" sz="2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Redundancy: HSRP &amp; EtherChannel</a:t>
            </a:r>
            <a:endParaRPr lang="en-US" sz="3000" dirty="0"/>
          </a:p>
        </p:txBody>
      </p:sp>
      <p:sp>
        <p:nvSpPr>
          <p:cNvPr id="3" name="Shape 1"/>
          <p:cNvSpPr/>
          <p:nvPr/>
        </p:nvSpPr>
        <p:spPr>
          <a:xfrm>
            <a:off x="548640" y="1463040"/>
            <a:ext cx="5394960" cy="4114800"/>
          </a:xfrm>
          <a:prstGeom prst="roundRect">
            <a:avLst>
              <a:gd name="adj" fmla="val 2667"/>
            </a:avLst>
          </a:prstGeom>
          <a:solidFill>
            <a:srgbClr val="CADCFC"/>
          </a:solidFill>
          <a:ln/>
        </p:spPr>
      </p:sp>
      <p:sp>
        <p:nvSpPr>
          <p:cNvPr id="6" name="Text 3"/>
          <p:cNvSpPr txBox="1"/>
          <p:nvPr/>
        </p:nvSpPr>
        <p:spPr>
          <a:xfrm>
            <a:off x="91440" y="1965960"/>
            <a:ext cx="5394960" cy="45720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Backup Router (HSRP)</a:t>
            </a:r>
            <a:endParaRPr lang="en-US" sz="2000" dirty="0"/>
          </a:p>
        </p:txBody>
      </p:sp>
      <p:sp>
        <p:nvSpPr>
          <p:cNvPr id="7" name="Text 4"/>
          <p:cNvSpPr txBox="1"/>
          <p:nvPr/>
        </p:nvSpPr>
        <p:spPr>
          <a:xfrm>
            <a:off x="1005840" y="2423160"/>
            <a:ext cx="4480560" cy="2011680"/>
          </a:xfrm>
          <a:prstGeom prst="rect">
            <a:avLst/>
          </a:prstGeom>
          <a:noFill/>
          <a:ln/>
        </p:spPr>
        <p:txBody>
          <a:bodyPr wrap="square" lIns="0" tIns="0" rIns="0" bIns="0" rtlCol="0" anchor="ctr"/>
          <a:lstStyle/>
          <a:p>
            <a:pPr marL="0" indent="0" algn="l">
              <a:lnSpc>
                <a:spcPct val="125000"/>
              </a:lnSpc>
              <a:buNone/>
            </a:pPr>
            <a:r>
              <a:rPr lang="en-US" sz="2000" dirty="0">
                <a:solidFill>
                  <a:srgbClr val="222222"/>
                </a:solidFill>
                <a:latin typeface="Calibri" pitchFamily="34" charset="0"/>
                <a:ea typeface="Calibri" pitchFamily="34" charset="-122"/>
                <a:cs typeface="Calibri" pitchFamily="34" charset="-120"/>
              </a:rPr>
              <a:t>Each office has two routers sharing one address, like a duty-desk phone number. If the main router fails, the backup answers the same number within seconds and nobody has to change anything.</a:t>
            </a:r>
            <a:endParaRPr lang="en-US" sz="2000" dirty="0"/>
          </a:p>
        </p:txBody>
      </p:sp>
      <p:sp>
        <p:nvSpPr>
          <p:cNvPr id="8" name="Shape 5"/>
          <p:cNvSpPr/>
          <p:nvPr/>
        </p:nvSpPr>
        <p:spPr>
          <a:xfrm>
            <a:off x="6217920" y="1463040"/>
            <a:ext cx="5394960" cy="4114800"/>
          </a:xfrm>
          <a:prstGeom prst="roundRect">
            <a:avLst>
              <a:gd name="adj" fmla="val 2667"/>
            </a:avLst>
          </a:prstGeom>
          <a:solidFill>
            <a:srgbClr val="CADCFC"/>
          </a:solidFill>
          <a:ln/>
        </p:spPr>
      </p:sp>
      <p:sp>
        <p:nvSpPr>
          <p:cNvPr id="11" name="Text 7"/>
          <p:cNvSpPr txBox="1"/>
          <p:nvPr/>
        </p:nvSpPr>
        <p:spPr>
          <a:xfrm>
            <a:off x="5943600" y="2057400"/>
            <a:ext cx="5394960" cy="45720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Double Cable (EtherChannel)</a:t>
            </a:r>
            <a:endParaRPr lang="en-US" sz="2000" dirty="0"/>
          </a:p>
        </p:txBody>
      </p:sp>
      <p:sp>
        <p:nvSpPr>
          <p:cNvPr id="12" name="Text 8"/>
          <p:cNvSpPr txBox="1"/>
          <p:nvPr/>
        </p:nvSpPr>
        <p:spPr>
          <a:xfrm>
            <a:off x="6538642" y="2423160"/>
            <a:ext cx="4480560" cy="2011680"/>
          </a:xfrm>
          <a:prstGeom prst="rect">
            <a:avLst/>
          </a:prstGeom>
          <a:noFill/>
          <a:ln/>
        </p:spPr>
        <p:txBody>
          <a:bodyPr wrap="square" lIns="0" tIns="0" rIns="0" bIns="0" rtlCol="0" anchor="ctr"/>
          <a:lstStyle/>
          <a:p>
            <a:pPr marL="0" indent="0" algn="l">
              <a:lnSpc>
                <a:spcPct val="125000"/>
              </a:lnSpc>
              <a:buNone/>
            </a:pPr>
            <a:r>
              <a:rPr lang="en-US" sz="2000" dirty="0">
                <a:solidFill>
                  <a:srgbClr val="222222"/>
                </a:solidFill>
                <a:latin typeface="Calibri" pitchFamily="34" charset="0"/>
                <a:ea typeface="Calibri" pitchFamily="34" charset="-122"/>
                <a:cs typeface="Calibri" pitchFamily="34" charset="-120"/>
              </a:rPr>
              <a:t>Two cables between each office's switches work as one wide road. If one cable is cut, traffic keeps flowing on the other with no interruption.</a:t>
            </a:r>
            <a:endParaRPr lang="en-US" sz="2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Security Implementation</a:t>
            </a:r>
            <a:endParaRPr lang="en-US" sz="3000" dirty="0"/>
          </a:p>
        </p:txBody>
      </p:sp>
      <p:sp>
        <p:nvSpPr>
          <p:cNvPr id="3" name="Shape 1"/>
          <p:cNvSpPr/>
          <p:nvPr/>
        </p:nvSpPr>
        <p:spPr>
          <a:xfrm>
            <a:off x="640080" y="1463040"/>
            <a:ext cx="5212080" cy="1920240"/>
          </a:xfrm>
          <a:prstGeom prst="roundRect">
            <a:avLst>
              <a:gd name="adj" fmla="val 4762"/>
            </a:avLst>
          </a:prstGeom>
          <a:solidFill>
            <a:srgbClr val="CADCFC"/>
          </a:solidFill>
          <a:ln/>
        </p:spPr>
      </p:sp>
      <p:sp>
        <p:nvSpPr>
          <p:cNvPr id="6" name="Text 3"/>
          <p:cNvSpPr txBox="1"/>
          <p:nvPr/>
        </p:nvSpPr>
        <p:spPr>
          <a:xfrm>
            <a:off x="960120" y="1609412"/>
            <a:ext cx="3657600" cy="41148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Port Security</a:t>
            </a:r>
            <a:endParaRPr lang="en-US" sz="2000" dirty="0"/>
          </a:p>
        </p:txBody>
      </p:sp>
      <p:sp>
        <p:nvSpPr>
          <p:cNvPr id="7" name="Text 4"/>
          <p:cNvSpPr txBox="1"/>
          <p:nvPr/>
        </p:nvSpPr>
        <p:spPr>
          <a:xfrm>
            <a:off x="960120" y="1950947"/>
            <a:ext cx="3749040" cy="1005840"/>
          </a:xfrm>
          <a:prstGeom prst="rect">
            <a:avLst/>
          </a:prstGeom>
          <a:noFill/>
          <a:ln/>
        </p:spPr>
        <p:txBody>
          <a:bodyPr wrap="square" lIns="0" tIns="0" rIns="0" bIns="0" rtlCol="0" anchor="ctr"/>
          <a:lstStyle/>
          <a:p>
            <a:pPr marL="0" indent="0">
              <a:lnSpc>
                <a:spcPct val="120000"/>
              </a:lnSpc>
              <a:buNone/>
            </a:pPr>
            <a:r>
              <a:rPr lang="en-US" sz="2000" dirty="0">
                <a:solidFill>
                  <a:srgbClr val="222222"/>
                </a:solidFill>
                <a:latin typeface="Calibri" pitchFamily="34" charset="0"/>
                <a:ea typeface="Calibri" pitchFamily="34" charset="-122"/>
                <a:cs typeface="Calibri" pitchFamily="34" charset="-120"/>
              </a:rPr>
              <a:t>Each wall socket accepts only its registered device. A stranger's laptop is blocked and logged.</a:t>
            </a:r>
            <a:endParaRPr lang="en-US" sz="2000" dirty="0"/>
          </a:p>
        </p:txBody>
      </p:sp>
      <p:sp>
        <p:nvSpPr>
          <p:cNvPr id="8" name="Shape 5"/>
          <p:cNvSpPr/>
          <p:nvPr/>
        </p:nvSpPr>
        <p:spPr>
          <a:xfrm>
            <a:off x="6217920" y="1463040"/>
            <a:ext cx="5212080" cy="1920240"/>
          </a:xfrm>
          <a:prstGeom prst="roundRect">
            <a:avLst>
              <a:gd name="adj" fmla="val 4762"/>
            </a:avLst>
          </a:prstGeom>
          <a:solidFill>
            <a:srgbClr val="CADCFC"/>
          </a:solidFill>
          <a:ln/>
        </p:spPr>
      </p:sp>
      <p:sp>
        <p:nvSpPr>
          <p:cNvPr id="11" name="Text 7"/>
          <p:cNvSpPr txBox="1"/>
          <p:nvPr/>
        </p:nvSpPr>
        <p:spPr>
          <a:xfrm>
            <a:off x="6465627" y="1694180"/>
            <a:ext cx="3657600" cy="41148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DHCP Snooping</a:t>
            </a:r>
            <a:endParaRPr lang="en-US" sz="2000" dirty="0"/>
          </a:p>
        </p:txBody>
      </p:sp>
      <p:sp>
        <p:nvSpPr>
          <p:cNvPr id="12" name="Text 8"/>
          <p:cNvSpPr txBox="1"/>
          <p:nvPr/>
        </p:nvSpPr>
        <p:spPr>
          <a:xfrm>
            <a:off x="6465627" y="2080260"/>
            <a:ext cx="3749040" cy="1005840"/>
          </a:xfrm>
          <a:prstGeom prst="rect">
            <a:avLst/>
          </a:prstGeom>
          <a:noFill/>
          <a:ln/>
        </p:spPr>
        <p:txBody>
          <a:bodyPr wrap="square" lIns="0" tIns="0" rIns="0" bIns="0" rtlCol="0" anchor="ctr"/>
          <a:lstStyle/>
          <a:p>
            <a:pPr marL="0" indent="0">
              <a:lnSpc>
                <a:spcPct val="120000"/>
              </a:lnSpc>
              <a:buNone/>
            </a:pPr>
            <a:r>
              <a:rPr lang="en-US" sz="2000" dirty="0">
                <a:solidFill>
                  <a:srgbClr val="222222"/>
                </a:solidFill>
                <a:latin typeface="Calibri" pitchFamily="34" charset="0"/>
                <a:ea typeface="Calibri" pitchFamily="34" charset="-122"/>
                <a:cs typeface="Calibri" pitchFamily="34" charset="-120"/>
              </a:rPr>
              <a:t>Stops a fake address-giver from misdirecting devices. Only the real one is trusted.</a:t>
            </a:r>
            <a:endParaRPr lang="en-US" sz="2000" dirty="0"/>
          </a:p>
        </p:txBody>
      </p:sp>
      <p:sp>
        <p:nvSpPr>
          <p:cNvPr id="13" name="Shape 9"/>
          <p:cNvSpPr/>
          <p:nvPr/>
        </p:nvSpPr>
        <p:spPr>
          <a:xfrm>
            <a:off x="640080" y="3657600"/>
            <a:ext cx="5212080" cy="1920240"/>
          </a:xfrm>
          <a:prstGeom prst="roundRect">
            <a:avLst>
              <a:gd name="adj" fmla="val 4762"/>
            </a:avLst>
          </a:prstGeom>
          <a:solidFill>
            <a:srgbClr val="CADCFC"/>
          </a:solidFill>
          <a:ln/>
        </p:spPr>
      </p:sp>
      <p:sp>
        <p:nvSpPr>
          <p:cNvPr id="16" name="Text 11"/>
          <p:cNvSpPr txBox="1"/>
          <p:nvPr/>
        </p:nvSpPr>
        <p:spPr>
          <a:xfrm>
            <a:off x="960120" y="3840480"/>
            <a:ext cx="3657600" cy="41148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SSH &amp; Hardening</a:t>
            </a:r>
            <a:endParaRPr lang="en-US" sz="2000" dirty="0"/>
          </a:p>
        </p:txBody>
      </p:sp>
      <p:sp>
        <p:nvSpPr>
          <p:cNvPr id="17" name="Text 12"/>
          <p:cNvSpPr txBox="1"/>
          <p:nvPr/>
        </p:nvSpPr>
        <p:spPr>
          <a:xfrm>
            <a:off x="960120" y="4187816"/>
            <a:ext cx="3749040" cy="1005840"/>
          </a:xfrm>
          <a:prstGeom prst="rect">
            <a:avLst/>
          </a:prstGeom>
          <a:noFill/>
          <a:ln/>
        </p:spPr>
        <p:txBody>
          <a:bodyPr wrap="square" lIns="0" tIns="0" rIns="0" bIns="0" rtlCol="0" anchor="ctr"/>
          <a:lstStyle/>
          <a:p>
            <a:pPr marL="0" indent="0">
              <a:lnSpc>
                <a:spcPct val="120000"/>
              </a:lnSpc>
              <a:buNone/>
            </a:pPr>
            <a:r>
              <a:rPr lang="en-US" sz="2000" dirty="0">
                <a:solidFill>
                  <a:srgbClr val="222222"/>
                </a:solidFill>
                <a:latin typeface="Calibri" pitchFamily="34" charset="0"/>
                <a:ea typeface="Calibri" pitchFamily="34" charset="-122"/>
                <a:cs typeface="Calibri" pitchFamily="34" charset="-120"/>
              </a:rPr>
              <a:t>Encrypted remote login only, scrambled stored passwords, and a warning banner on every device.</a:t>
            </a:r>
            <a:endParaRPr lang="en-US" sz="2000" dirty="0"/>
          </a:p>
        </p:txBody>
      </p:sp>
      <p:sp>
        <p:nvSpPr>
          <p:cNvPr id="18" name="Shape 13"/>
          <p:cNvSpPr/>
          <p:nvPr/>
        </p:nvSpPr>
        <p:spPr>
          <a:xfrm>
            <a:off x="6217920" y="3657600"/>
            <a:ext cx="5212080" cy="1920240"/>
          </a:xfrm>
          <a:prstGeom prst="roundRect">
            <a:avLst>
              <a:gd name="adj" fmla="val 4762"/>
            </a:avLst>
          </a:prstGeom>
          <a:solidFill>
            <a:srgbClr val="CADCFC"/>
          </a:solidFill>
          <a:ln/>
        </p:spPr>
      </p:sp>
      <p:sp>
        <p:nvSpPr>
          <p:cNvPr id="21" name="Text 15"/>
          <p:cNvSpPr txBox="1"/>
          <p:nvPr/>
        </p:nvSpPr>
        <p:spPr>
          <a:xfrm>
            <a:off x="6511347" y="3855493"/>
            <a:ext cx="3657600" cy="41148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Access Rules (ACLs)</a:t>
            </a:r>
            <a:endParaRPr lang="en-US" sz="2000" dirty="0"/>
          </a:p>
        </p:txBody>
      </p:sp>
      <p:sp>
        <p:nvSpPr>
          <p:cNvPr id="22" name="Text 16"/>
          <p:cNvSpPr txBox="1"/>
          <p:nvPr/>
        </p:nvSpPr>
        <p:spPr>
          <a:xfrm>
            <a:off x="6511347" y="4299045"/>
            <a:ext cx="3749040" cy="1005840"/>
          </a:xfrm>
          <a:prstGeom prst="rect">
            <a:avLst/>
          </a:prstGeom>
          <a:noFill/>
          <a:ln/>
        </p:spPr>
        <p:txBody>
          <a:bodyPr wrap="square" lIns="0" tIns="0" rIns="0" bIns="0" rtlCol="0" anchor="ctr"/>
          <a:lstStyle/>
          <a:p>
            <a:pPr marL="0" indent="0">
              <a:lnSpc>
                <a:spcPct val="120000"/>
              </a:lnSpc>
              <a:buNone/>
            </a:pPr>
            <a:r>
              <a:rPr lang="en-US" sz="2000" dirty="0">
                <a:solidFill>
                  <a:srgbClr val="222222"/>
                </a:solidFill>
                <a:latin typeface="Calibri" pitchFamily="34" charset="0"/>
                <a:ea typeface="Calibri" pitchFamily="34" charset="-122"/>
                <a:cs typeface="Calibri" pitchFamily="34" charset="-120"/>
              </a:rPr>
              <a:t>Visitors can't reach company data, and only IT staff can log in to manage equipment.</a:t>
            </a:r>
            <a:endParaRPr lang="en-US" sz="2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Guest Network</a:t>
            </a:r>
            <a:endParaRPr lang="en-US" sz="3000" dirty="0"/>
          </a:p>
        </p:txBody>
      </p:sp>
      <p:sp>
        <p:nvSpPr>
          <p:cNvPr id="3" name="Shape 1"/>
          <p:cNvSpPr/>
          <p:nvPr/>
        </p:nvSpPr>
        <p:spPr>
          <a:xfrm>
            <a:off x="548640" y="1463040"/>
            <a:ext cx="5394960" cy="3566160"/>
          </a:xfrm>
          <a:prstGeom prst="roundRect">
            <a:avLst>
              <a:gd name="adj" fmla="val 2564"/>
            </a:avLst>
          </a:prstGeom>
          <a:solidFill>
            <a:srgbClr val="CADCFC"/>
          </a:solidFill>
          <a:ln/>
        </p:spPr>
      </p:sp>
      <p:sp>
        <p:nvSpPr>
          <p:cNvPr id="6" name="Text 3"/>
          <p:cNvSpPr txBox="1"/>
          <p:nvPr/>
        </p:nvSpPr>
        <p:spPr>
          <a:xfrm>
            <a:off x="873710" y="1874520"/>
            <a:ext cx="4114800" cy="640080"/>
          </a:xfrm>
          <a:prstGeom prst="rect">
            <a:avLst/>
          </a:prstGeom>
          <a:noFill/>
          <a:ln/>
        </p:spPr>
        <p:txBody>
          <a:bodyPr wrap="square" lIns="0" tIns="0" rIns="0" bIns="0" rtlCol="0" anchor="ctr"/>
          <a:lstStyle/>
          <a:p>
            <a:pPr marL="0" indent="0">
              <a:buNone/>
            </a:pPr>
            <a:r>
              <a:rPr lang="en-US" sz="2000" b="1" dirty="0">
                <a:solidFill>
                  <a:srgbClr val="1E2761"/>
                </a:solidFill>
                <a:latin typeface="Calibri" panose="020F0502020204030204" pitchFamily="34" charset="0"/>
                <a:ea typeface="Calibri" panose="020F0502020204030204" pitchFamily="34" charset="0"/>
                <a:cs typeface="Calibri" panose="020F0502020204030204" pitchFamily="34" charset="0"/>
              </a:rPr>
              <a:t>What visitors get</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4"/>
          <p:cNvSpPr txBox="1"/>
          <p:nvPr/>
        </p:nvSpPr>
        <p:spPr>
          <a:xfrm>
            <a:off x="822960" y="2606040"/>
            <a:ext cx="4846320" cy="2240280"/>
          </a:xfrm>
          <a:prstGeom prst="rect">
            <a:avLst/>
          </a:prstGeom>
          <a:noFill/>
          <a:ln/>
        </p:spPr>
        <p:txBody>
          <a:bodyPr wrap="square" lIns="0" tIns="0" rIns="0" bIns="0" rtlCol="0" anchor="t"/>
          <a:lstStyle/>
          <a:p>
            <a:pPr marL="0" indent="0">
              <a:lnSpc>
                <a:spcPct val="120000"/>
              </a:lnSpc>
              <a:buNone/>
            </a:pPr>
            <a:r>
              <a:rPr lang="en-US" sz="2000" dirty="0">
                <a:solidFill>
                  <a:srgbClr val="222222"/>
                </a:solidFill>
                <a:latin typeface="Calibri" pitchFamily="34" charset="0"/>
                <a:ea typeface="Calibri" pitchFamily="34" charset="-122"/>
                <a:cs typeface="Calibri" pitchFamily="34" charset="-120"/>
              </a:rPr>
              <a:t>They join the Nexora-Guest Wi-Fi and receive an address automatically, in their own private network, separate from every department.</a:t>
            </a:r>
            <a:endParaRPr lang="en-US" sz="2000" dirty="0"/>
          </a:p>
        </p:txBody>
      </p:sp>
      <p:sp>
        <p:nvSpPr>
          <p:cNvPr id="8" name="Shape 5"/>
          <p:cNvSpPr/>
          <p:nvPr/>
        </p:nvSpPr>
        <p:spPr>
          <a:xfrm>
            <a:off x="6217920" y="1463040"/>
            <a:ext cx="5394960" cy="3566160"/>
          </a:xfrm>
          <a:prstGeom prst="roundRect">
            <a:avLst>
              <a:gd name="adj" fmla="val 2564"/>
            </a:avLst>
          </a:prstGeom>
          <a:solidFill>
            <a:srgbClr val="CADCFC"/>
          </a:solidFill>
          <a:ln/>
        </p:spPr>
      </p:sp>
      <p:sp>
        <p:nvSpPr>
          <p:cNvPr id="11" name="Text 7"/>
          <p:cNvSpPr txBox="1"/>
          <p:nvPr/>
        </p:nvSpPr>
        <p:spPr>
          <a:xfrm>
            <a:off x="6492240" y="1828800"/>
            <a:ext cx="4114800" cy="64008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What visitors cannot do</a:t>
            </a:r>
            <a:endParaRPr lang="en-US" sz="2000" dirty="0"/>
          </a:p>
        </p:txBody>
      </p:sp>
      <p:sp>
        <p:nvSpPr>
          <p:cNvPr id="12" name="Text 8"/>
          <p:cNvSpPr txBox="1"/>
          <p:nvPr/>
        </p:nvSpPr>
        <p:spPr>
          <a:xfrm>
            <a:off x="6492240" y="2606040"/>
            <a:ext cx="4846320" cy="2240280"/>
          </a:xfrm>
          <a:prstGeom prst="rect">
            <a:avLst/>
          </a:prstGeom>
          <a:noFill/>
          <a:ln/>
        </p:spPr>
        <p:txBody>
          <a:bodyPr wrap="square" lIns="0" tIns="0" rIns="0" bIns="0" rtlCol="0" anchor="t"/>
          <a:lstStyle/>
          <a:p>
            <a:pPr marL="0" indent="0">
              <a:lnSpc>
                <a:spcPct val="120000"/>
              </a:lnSpc>
              <a:buNone/>
            </a:pPr>
            <a:r>
              <a:rPr lang="en-US" sz="2000" dirty="0">
                <a:solidFill>
                  <a:srgbClr val="222222"/>
                </a:solidFill>
                <a:latin typeface="Calibri" pitchFamily="34" charset="0"/>
                <a:ea typeface="Calibri" pitchFamily="34" charset="-122"/>
                <a:cs typeface="Calibri" pitchFamily="34" charset="-120"/>
              </a:rPr>
              <a:t>Reach any department, the file server or the printers. Rules on the routers block that traffic in both directions.</a:t>
            </a:r>
            <a:endParaRPr lang="en-US" sz="2000" dirty="0"/>
          </a:p>
        </p:txBody>
      </p:sp>
      <p:sp>
        <p:nvSpPr>
          <p:cNvPr id="13" name="Text 9"/>
          <p:cNvSpPr txBox="1"/>
          <p:nvPr/>
        </p:nvSpPr>
        <p:spPr>
          <a:xfrm>
            <a:off x="548640" y="5852160"/>
            <a:ext cx="11064240" cy="548640"/>
          </a:xfrm>
          <a:prstGeom prst="rect">
            <a:avLst/>
          </a:prstGeom>
          <a:noFill/>
          <a:ln/>
        </p:spPr>
        <p:txBody>
          <a:bodyPr wrap="square" lIns="0" tIns="0" rIns="0" bIns="0" rtlCol="0" anchor="ctr"/>
          <a:lstStyle/>
          <a:p>
            <a:pPr marL="0" indent="0" algn="ctr">
              <a:buNone/>
            </a:pPr>
            <a:r>
              <a:rPr lang="en-US" sz="2000" dirty="0">
                <a:solidFill>
                  <a:srgbClr val="222222"/>
                </a:solidFill>
                <a:latin typeface="Calibri" panose="020F0502020204030204" pitchFamily="34" charset="0"/>
                <a:ea typeface="Calibri" panose="020F0502020204030204" pitchFamily="34" charset="0"/>
                <a:cs typeface="Calibri" panose="020F0502020204030204" pitchFamily="34" charset="0"/>
              </a:rPr>
              <a:t>Proven in testing: a guest laptop's pings to company devices failed, and company devices could not reach the guest either.</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Automatic Addresses: DHCP</a:t>
            </a:r>
            <a:endParaRPr lang="en-US" sz="3000" dirty="0"/>
          </a:p>
        </p:txBody>
      </p:sp>
      <p:sp>
        <p:nvSpPr>
          <p:cNvPr id="3" name="Shape 1"/>
          <p:cNvSpPr/>
          <p:nvPr/>
        </p:nvSpPr>
        <p:spPr>
          <a:xfrm>
            <a:off x="548640" y="1554480"/>
            <a:ext cx="2377440" cy="1371600"/>
          </a:xfrm>
          <a:prstGeom prst="roundRect">
            <a:avLst>
              <a:gd name="adj" fmla="val 6667"/>
            </a:avLst>
          </a:prstGeom>
          <a:solidFill>
            <a:srgbClr val="1E2761"/>
          </a:solidFill>
          <a:ln/>
        </p:spPr>
      </p:sp>
      <p:sp>
        <p:nvSpPr>
          <p:cNvPr id="4" name="Text 2"/>
          <p:cNvSpPr txBox="1"/>
          <p:nvPr/>
        </p:nvSpPr>
        <p:spPr>
          <a:xfrm>
            <a:off x="685800" y="1554480"/>
            <a:ext cx="2103120" cy="1523090"/>
          </a:xfrm>
          <a:prstGeom prst="rect">
            <a:avLst/>
          </a:prstGeom>
          <a:noFill/>
          <a:ln/>
        </p:spPr>
        <p:txBody>
          <a:bodyPr wrap="square" lIns="0" tIns="0" rIns="0" bIns="0" rtlCol="0" anchor="ctr"/>
          <a:lstStyle/>
          <a:p>
            <a:pPr marL="0" indent="0" algn="ctr">
              <a:buNone/>
            </a:pPr>
            <a:r>
              <a:rPr lang="en-US" sz="2000" dirty="0" smtClean="0">
                <a:solidFill>
                  <a:schemeClr val="bg1"/>
                </a:solidFill>
              </a:rPr>
              <a:t>DISCOVER</a:t>
            </a:r>
          </a:p>
          <a:p>
            <a:pPr marL="0" indent="0" algn="ctr">
              <a:buNone/>
            </a:pPr>
            <a:r>
              <a:rPr lang="en-US" sz="2000" dirty="0" smtClean="0">
                <a:solidFill>
                  <a:schemeClr val="bg1"/>
                </a:solidFill>
              </a:rPr>
              <a:t>The pc broadcasts a request asking for a DHCP server.</a:t>
            </a:r>
            <a:endParaRPr lang="en-US" sz="2000" dirty="0">
              <a:solidFill>
                <a:schemeClr val="bg1"/>
              </a:solidFill>
            </a:endParaRPr>
          </a:p>
        </p:txBody>
      </p:sp>
      <p:sp>
        <p:nvSpPr>
          <p:cNvPr id="5" name="Text 3"/>
          <p:cNvSpPr txBox="1"/>
          <p:nvPr/>
        </p:nvSpPr>
        <p:spPr>
          <a:xfrm>
            <a:off x="2926080" y="1783080"/>
            <a:ext cx="457200" cy="914400"/>
          </a:xfrm>
          <a:prstGeom prst="rect">
            <a:avLst/>
          </a:prstGeom>
          <a:noFill/>
          <a:ln/>
        </p:spPr>
        <p:txBody>
          <a:bodyPr wrap="square" lIns="0" tIns="0" rIns="0" bIns="0" rtlCol="0" anchor="ctr"/>
          <a:lstStyle/>
          <a:p>
            <a:pPr marL="0" indent="0" algn="ctr">
              <a:buNone/>
            </a:pPr>
            <a:r>
              <a:rPr lang="en-US" sz="2800" b="1" dirty="0">
                <a:solidFill>
                  <a:srgbClr val="1E2761"/>
                </a:solidFill>
                <a:latin typeface="Calibri" pitchFamily="34" charset="0"/>
                <a:ea typeface="Calibri" pitchFamily="34" charset="-122"/>
                <a:cs typeface="Calibri" pitchFamily="34" charset="-120"/>
              </a:rPr>
              <a:t>→</a:t>
            </a:r>
            <a:endParaRPr lang="en-US" sz="2800" dirty="0"/>
          </a:p>
        </p:txBody>
      </p:sp>
      <p:sp>
        <p:nvSpPr>
          <p:cNvPr id="6" name="Shape 4"/>
          <p:cNvSpPr/>
          <p:nvPr/>
        </p:nvSpPr>
        <p:spPr>
          <a:xfrm>
            <a:off x="3383280" y="1554480"/>
            <a:ext cx="2377440" cy="1371600"/>
          </a:xfrm>
          <a:prstGeom prst="roundRect">
            <a:avLst>
              <a:gd name="adj" fmla="val 6667"/>
            </a:avLst>
          </a:prstGeom>
          <a:solidFill>
            <a:srgbClr val="1E2761"/>
          </a:solidFill>
          <a:ln/>
        </p:spPr>
      </p:sp>
      <p:sp>
        <p:nvSpPr>
          <p:cNvPr id="7" name="Text 5"/>
          <p:cNvSpPr txBox="1"/>
          <p:nvPr/>
        </p:nvSpPr>
        <p:spPr>
          <a:xfrm>
            <a:off x="3520440" y="1402990"/>
            <a:ext cx="2103120" cy="1523090"/>
          </a:xfrm>
          <a:prstGeom prst="rect">
            <a:avLst/>
          </a:prstGeom>
          <a:noFill/>
          <a:ln/>
        </p:spPr>
        <p:txBody>
          <a:bodyPr wrap="square" lIns="0" tIns="0" rIns="0" bIns="0" rtlCol="0" anchor="ctr"/>
          <a:lstStyle/>
          <a:p>
            <a:pPr marL="0" indent="0" algn="ctr">
              <a:buNone/>
            </a:pPr>
            <a:r>
              <a:rPr lang="en-US" sz="2000" b="1" dirty="0" smtClean="0">
                <a:solidFill>
                  <a:srgbClr val="FFFFFF"/>
                </a:solidFill>
                <a:latin typeface="Calibri" pitchFamily="34" charset="0"/>
                <a:ea typeface="Calibri" pitchFamily="34" charset="-122"/>
                <a:cs typeface="Calibri" pitchFamily="34" charset="-120"/>
              </a:rPr>
              <a:t>OFFER</a:t>
            </a:r>
          </a:p>
          <a:p>
            <a:pPr marL="0" indent="0" algn="ctr">
              <a:buNone/>
            </a:pPr>
            <a:r>
              <a:rPr lang="en-US" sz="2000" dirty="0" smtClean="0">
                <a:solidFill>
                  <a:schemeClr val="bg1"/>
                </a:solidFill>
              </a:rPr>
              <a:t>R1 offers the pc an available IP address</a:t>
            </a:r>
            <a:endParaRPr lang="en-US" sz="2000" dirty="0">
              <a:solidFill>
                <a:schemeClr val="bg1"/>
              </a:solidFill>
            </a:endParaRPr>
          </a:p>
        </p:txBody>
      </p:sp>
      <p:sp>
        <p:nvSpPr>
          <p:cNvPr id="8" name="Text 6"/>
          <p:cNvSpPr txBox="1"/>
          <p:nvPr/>
        </p:nvSpPr>
        <p:spPr>
          <a:xfrm>
            <a:off x="5760720" y="1783080"/>
            <a:ext cx="457200" cy="914400"/>
          </a:xfrm>
          <a:prstGeom prst="rect">
            <a:avLst/>
          </a:prstGeom>
          <a:noFill/>
          <a:ln/>
        </p:spPr>
        <p:txBody>
          <a:bodyPr wrap="square" lIns="0" tIns="0" rIns="0" bIns="0" rtlCol="0" anchor="ctr"/>
          <a:lstStyle/>
          <a:p>
            <a:pPr marL="0" indent="0" algn="ctr">
              <a:buNone/>
            </a:pPr>
            <a:r>
              <a:rPr lang="en-US" sz="2800" b="1" dirty="0">
                <a:solidFill>
                  <a:srgbClr val="1E2761"/>
                </a:solidFill>
                <a:latin typeface="Calibri" pitchFamily="34" charset="0"/>
                <a:ea typeface="Calibri" pitchFamily="34" charset="-122"/>
                <a:cs typeface="Calibri" pitchFamily="34" charset="-120"/>
              </a:rPr>
              <a:t>→</a:t>
            </a:r>
            <a:endParaRPr lang="en-US" sz="2800" dirty="0"/>
          </a:p>
        </p:txBody>
      </p:sp>
      <p:sp>
        <p:nvSpPr>
          <p:cNvPr id="9" name="Shape 7"/>
          <p:cNvSpPr/>
          <p:nvPr/>
        </p:nvSpPr>
        <p:spPr>
          <a:xfrm>
            <a:off x="6217920" y="1554480"/>
            <a:ext cx="2377440" cy="1371600"/>
          </a:xfrm>
          <a:prstGeom prst="roundRect">
            <a:avLst>
              <a:gd name="adj" fmla="val 6667"/>
            </a:avLst>
          </a:prstGeom>
          <a:solidFill>
            <a:srgbClr val="1E2761"/>
          </a:solidFill>
          <a:ln/>
        </p:spPr>
      </p:sp>
      <p:sp>
        <p:nvSpPr>
          <p:cNvPr id="10" name="Text 8"/>
          <p:cNvSpPr txBox="1"/>
          <p:nvPr/>
        </p:nvSpPr>
        <p:spPr>
          <a:xfrm>
            <a:off x="6355080" y="1218745"/>
            <a:ext cx="2103120" cy="1858825"/>
          </a:xfrm>
          <a:prstGeom prst="rect">
            <a:avLst/>
          </a:prstGeom>
          <a:noFill/>
          <a:ln/>
        </p:spPr>
        <p:txBody>
          <a:bodyPr wrap="square" lIns="0" tIns="0" rIns="0" bIns="0" rtlCol="0" anchor="ctr"/>
          <a:lstStyle/>
          <a:p>
            <a:pPr marL="0" indent="0" algn="ctr">
              <a:buNone/>
            </a:pPr>
            <a:r>
              <a:rPr lang="en-US" sz="2000" dirty="0" smtClean="0">
                <a:solidFill>
                  <a:schemeClr val="bg1"/>
                </a:solidFill>
              </a:rPr>
              <a:t>REQUEST</a:t>
            </a:r>
          </a:p>
          <a:p>
            <a:pPr algn="ctr"/>
            <a:r>
              <a:rPr lang="en-US" sz="2000" dirty="0">
                <a:solidFill>
                  <a:schemeClr val="bg1"/>
                </a:solidFill>
              </a:rPr>
              <a:t>The PC requests the offered address.</a:t>
            </a:r>
            <a:endParaRPr lang="en-US" sz="2000" dirty="0">
              <a:solidFill>
                <a:schemeClr val="bg1"/>
              </a:solidFill>
            </a:endParaRPr>
          </a:p>
        </p:txBody>
      </p:sp>
      <p:sp>
        <p:nvSpPr>
          <p:cNvPr id="11" name="Text 9"/>
          <p:cNvSpPr txBox="1"/>
          <p:nvPr/>
        </p:nvSpPr>
        <p:spPr>
          <a:xfrm>
            <a:off x="8595360" y="1783080"/>
            <a:ext cx="457200" cy="914400"/>
          </a:xfrm>
          <a:prstGeom prst="rect">
            <a:avLst/>
          </a:prstGeom>
          <a:noFill/>
          <a:ln/>
        </p:spPr>
        <p:txBody>
          <a:bodyPr wrap="square" lIns="0" tIns="0" rIns="0" bIns="0" rtlCol="0" anchor="ctr"/>
          <a:lstStyle/>
          <a:p>
            <a:pPr marL="0" indent="0" algn="ctr">
              <a:buNone/>
            </a:pPr>
            <a:r>
              <a:rPr lang="en-US" sz="2800" b="1" dirty="0">
                <a:solidFill>
                  <a:srgbClr val="1E2761"/>
                </a:solidFill>
                <a:latin typeface="Calibri" pitchFamily="34" charset="0"/>
                <a:ea typeface="Calibri" pitchFamily="34" charset="-122"/>
                <a:cs typeface="Calibri" pitchFamily="34" charset="-120"/>
              </a:rPr>
              <a:t>→</a:t>
            </a:r>
            <a:endParaRPr lang="en-US" sz="2800" dirty="0"/>
          </a:p>
        </p:txBody>
      </p:sp>
      <p:sp>
        <p:nvSpPr>
          <p:cNvPr id="12" name="Shape 10"/>
          <p:cNvSpPr/>
          <p:nvPr/>
        </p:nvSpPr>
        <p:spPr>
          <a:xfrm>
            <a:off x="9052560" y="1554480"/>
            <a:ext cx="2377440" cy="1371600"/>
          </a:xfrm>
          <a:prstGeom prst="roundRect">
            <a:avLst>
              <a:gd name="adj" fmla="val 6667"/>
            </a:avLst>
          </a:prstGeom>
          <a:solidFill>
            <a:srgbClr val="1E2761"/>
          </a:solidFill>
          <a:ln/>
        </p:spPr>
      </p:sp>
      <p:sp>
        <p:nvSpPr>
          <p:cNvPr id="13" name="Text 11"/>
          <p:cNvSpPr txBox="1"/>
          <p:nvPr/>
        </p:nvSpPr>
        <p:spPr>
          <a:xfrm>
            <a:off x="9189720" y="1554480"/>
            <a:ext cx="2240280" cy="1371600"/>
          </a:xfrm>
          <a:prstGeom prst="rect">
            <a:avLst/>
          </a:prstGeom>
          <a:noFill/>
          <a:ln/>
        </p:spPr>
        <p:txBody>
          <a:bodyPr wrap="square" lIns="0" tIns="0" rIns="0" bIns="0" rtlCol="0" anchor="ctr"/>
          <a:lstStyle/>
          <a:p>
            <a:pPr marL="0" indent="0" algn="ctr">
              <a:buNone/>
            </a:pPr>
            <a:r>
              <a:rPr lang="en-US" sz="2000" b="1" dirty="0" smtClean="0">
                <a:solidFill>
                  <a:schemeClr val="bg1"/>
                </a:solidFill>
                <a:latin typeface="Calibri" pitchFamily="34" charset="0"/>
                <a:ea typeface="Calibri" pitchFamily="34" charset="-122"/>
                <a:cs typeface="Calibri" pitchFamily="34" charset="-120"/>
              </a:rPr>
              <a:t>ACKNOWLEDGE</a:t>
            </a:r>
          </a:p>
          <a:p>
            <a:pPr algn="ctr"/>
            <a:r>
              <a:rPr lang="en-US" sz="2000" dirty="0">
                <a:solidFill>
                  <a:schemeClr val="bg1"/>
                </a:solidFill>
              </a:rPr>
              <a:t>R1 confirms the lease, and the PC can use the address</a:t>
            </a:r>
            <a:endParaRPr lang="en-US" sz="2000" dirty="0">
              <a:solidFill>
                <a:schemeClr val="bg1"/>
              </a:solidFill>
            </a:endParaRPr>
          </a:p>
        </p:txBody>
      </p:sp>
      <p:sp>
        <p:nvSpPr>
          <p:cNvPr id="14" name="Shape 12"/>
          <p:cNvSpPr/>
          <p:nvPr/>
        </p:nvSpPr>
        <p:spPr>
          <a:xfrm>
            <a:off x="548640" y="3474720"/>
            <a:ext cx="11064240" cy="2103120"/>
          </a:xfrm>
          <a:prstGeom prst="roundRect">
            <a:avLst>
              <a:gd name="adj" fmla="val 4348"/>
            </a:avLst>
          </a:prstGeom>
          <a:solidFill>
            <a:srgbClr val="CADCFC"/>
          </a:solidFill>
          <a:ln/>
        </p:spPr>
      </p:sp>
      <p:sp>
        <p:nvSpPr>
          <p:cNvPr id="16" name="Text 14"/>
          <p:cNvSpPr txBox="1"/>
          <p:nvPr/>
        </p:nvSpPr>
        <p:spPr>
          <a:xfrm>
            <a:off x="685800" y="3687625"/>
            <a:ext cx="10332720" cy="1280160"/>
          </a:xfrm>
          <a:prstGeom prst="rect">
            <a:avLst/>
          </a:prstGeom>
          <a:noFill/>
          <a:ln/>
        </p:spPr>
        <p:txBody>
          <a:bodyPr wrap="square" lIns="0" tIns="0" rIns="0" bIns="0" rtlCol="0" anchor="ctr"/>
          <a:lstStyle/>
          <a:p>
            <a:pPr marL="0" indent="0">
              <a:lnSpc>
                <a:spcPct val="125000"/>
              </a:lnSpc>
              <a:buNone/>
            </a:pPr>
            <a:r>
              <a:rPr lang="en-US" sz="2000" dirty="0">
                <a:solidFill>
                  <a:srgbClr val="222222"/>
                </a:solidFill>
                <a:latin typeface="Calibri" pitchFamily="34" charset="0"/>
                <a:ea typeface="Calibri" pitchFamily="34" charset="-122"/>
                <a:cs typeface="Calibri" pitchFamily="34" charset="-120"/>
              </a:rPr>
              <a:t>The shared gateway, the two routers, the file server and the network equipment keep fixed addresses so they can always be found. Everything else, such as PCs and laptops, takes whatever is free, so no one has to type an address by hand.</a:t>
            </a:r>
            <a:endParaRPr lang="en-US" sz="20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31520" y="320040"/>
            <a:ext cx="11064240" cy="68580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Key Terms </a:t>
            </a:r>
          </a:p>
        </p:txBody>
      </p:sp>
      <p:graphicFrame>
        <p:nvGraphicFramePr>
          <p:cNvPr id="16" name="Table 0"/>
          <p:cNvGraphicFramePr>
            <a:graphicFrameLocks noGrp="1"/>
          </p:cNvGraphicFramePr>
          <p:nvPr>
            <p:extLst>
              <p:ext uri="{D42A27DB-BD31-4B8C-83A1-F6EECF244321}">
                <p14:modId xmlns:p14="http://schemas.microsoft.com/office/powerpoint/2010/main" val="2613405279"/>
              </p:ext>
            </p:extLst>
          </p:nvPr>
        </p:nvGraphicFramePr>
        <p:xfrm>
          <a:off x="731520" y="1371600"/>
          <a:ext cx="10698480" cy="4474873"/>
        </p:xfrm>
        <a:graphic>
          <a:graphicData uri="http://schemas.openxmlformats.org/drawingml/2006/table">
            <a:tbl>
              <a:tblPr/>
              <a:tblGrid>
                <a:gridCol w="2743200">
                  <a:extLst>
                    <a:ext uri="{9D8B030D-6E8A-4147-A177-3AD203B41FA5}">
                      <a16:colId xmlns:a16="http://schemas.microsoft.com/office/drawing/2014/main" val="20000"/>
                    </a:ext>
                  </a:extLst>
                </a:gridCol>
                <a:gridCol w="7955280">
                  <a:extLst>
                    <a:ext uri="{9D8B030D-6E8A-4147-A177-3AD203B41FA5}">
                      <a16:colId xmlns:a16="http://schemas.microsoft.com/office/drawing/2014/main" val="20001"/>
                    </a:ext>
                  </a:extLst>
                </a:gridCol>
              </a:tblGrid>
              <a:tr h="594360">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Term</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1E2761"/>
                    </a:solidFill>
                  </a:tcPr>
                </a:tc>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In plain words</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695353">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VLAN</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A private network for one department, like a separate floor of the building</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Router / Switch</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Router = traffic director between networks. Switch = connects devices within one network</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extLst>
                  <a:ext uri="{0D108BD9-81ED-4DB2-BD59-A6C34878D82A}">
                    <a16:rowId xmlns:a16="http://schemas.microsoft.com/office/drawing/2014/main" val="10002"/>
                  </a:ext>
                </a:extLst>
              </a:tr>
              <a:tr h="594360">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HSRP</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Two routers share one address so a backup takes over instantly, like a duty-desk phone</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EtherChannel</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Two cables working as one wide road, so losing one doesn't stop traffic</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extLst>
                  <a:ext uri="{0D108BD9-81ED-4DB2-BD59-A6C34878D82A}">
                    <a16:rowId xmlns:a16="http://schemas.microsoft.com/office/drawing/2014/main" val="10004"/>
                  </a:ext>
                </a:extLst>
              </a:tr>
              <a:tr h="594360">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OSPF</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How routers share a live map so traffic always finds a path between offices</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94360">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ACL</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tc>
                  <a:txBody>
                    <a:bodyPr/>
                    <a:lstStyle/>
                    <a:p>
                      <a:pPr marL="0" indent="0" algn="l">
                        <a:buNone/>
                      </a:pPr>
                      <a:r>
                        <a:rPr lang="en-US" sz="2000" dirty="0">
                          <a:solidFill>
                            <a:srgbClr val="222222"/>
                          </a:solidFill>
                          <a:latin typeface="Calibri" pitchFamily="34" charset="0"/>
                          <a:ea typeface="Calibri" pitchFamily="34" charset="-122"/>
                          <a:cs typeface="Calibri" pitchFamily="34" charset="-120"/>
                        </a:rPr>
                        <a:t>A guest list for the network: who may reach what</a:t>
                      </a:r>
                      <a:endParaRPr lang="en-US" sz="20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CADCFC"/>
                    </a:solid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4" name="Text 1"/>
          <p:cNvSpPr txBox="1"/>
          <p:nvPr/>
        </p:nvSpPr>
        <p:spPr>
          <a:xfrm>
            <a:off x="914400" y="2651760"/>
            <a:ext cx="1033272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2"/>
          <p:cNvSpPr txBox="1"/>
          <p:nvPr/>
        </p:nvSpPr>
        <p:spPr>
          <a:xfrm>
            <a:off x="914400" y="3611880"/>
            <a:ext cx="10332720" cy="548640"/>
          </a:xfrm>
          <a:prstGeom prst="rect">
            <a:avLst/>
          </a:prstGeom>
          <a:noFill/>
          <a:ln/>
        </p:spPr>
        <p:txBody>
          <a:bodyPr wrap="square" lIns="0" tIns="0" rIns="0" bIns="0" rtlCol="0" anchor="ctr"/>
          <a:lstStyle/>
          <a:p>
            <a:pPr marL="0" indent="0" algn="ctr">
              <a:buNone/>
            </a:pPr>
            <a:r>
              <a:rPr lang="en-US" sz="2000" i="1" dirty="0">
                <a:solidFill>
                  <a:srgbClr val="CADCFC"/>
                </a:solidFill>
                <a:latin typeface="Calibri" pitchFamily="34" charset="0"/>
                <a:ea typeface="Calibri" pitchFamily="34" charset="-122"/>
                <a:cs typeface="Calibri" pitchFamily="34" charset="-120"/>
              </a:rPr>
              <a:t>Questions?</a:t>
            </a:r>
            <a:endParaRPr lang="en-US" sz="20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397</TotalTime>
  <Words>1220</Words>
  <Application>Microsoft Office PowerPoint</Application>
  <PresentationFormat>Widescreen</PresentationFormat>
  <Paragraphs>200</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Administrator</cp:lastModifiedBy>
  <cp:revision>21</cp:revision>
  <dcterms:created xsi:type="dcterms:W3CDTF">2026-10-09T07:15:25Z</dcterms:created>
  <dcterms:modified xsi:type="dcterms:W3CDTF">2026-10-22T17:32:38Z</dcterms:modified>
</cp:coreProperties>
</file>